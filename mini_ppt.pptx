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5" r:id="rId7"/>
    <p:sldId id="275" r:id="rId8"/>
    <p:sldId id="266" r:id="rId9"/>
    <p:sldId id="267" r:id="rId10"/>
    <p:sldId id="268" r:id="rId11"/>
    <p:sldId id="269" r:id="rId12"/>
    <p:sldId id="270" r:id="rId13"/>
    <p:sldId id="271" r:id="rId14"/>
    <p:sldId id="272" r:id="rId15"/>
    <p:sldId id="273" r:id="rId16"/>
    <p:sldId id="274" r:id="rId17"/>
    <p:sldId id="261" r:id="rId18"/>
    <p:sldId id="262" r:id="rId19"/>
    <p:sldId id="263" r:id="rId20"/>
    <p:sldId id="26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5/2/2025</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1109/ICWR61162.2024.10533352" TargetMode="External"/><Relationship Id="rId2" Type="http://schemas.openxmlformats.org/officeDocument/2006/relationships/hyperlink" Target="https://github.com/Tariq60/LIAR-PLUS/tree/master/dataset/tsv" TargetMode="External"/><Relationship Id="rId1" Type="http://schemas.openxmlformats.org/officeDocument/2006/relationships/slideLayout" Target="../slideLayouts/slideLayout2.xml"/><Relationship Id="rId4" Type="http://schemas.openxmlformats.org/officeDocument/2006/relationships/hyperlink" Target="https://www.researchgate.net/publication/372906672/figure/fig2/AS:11431281179224913@1691164535766/BERT-model-architecture.pp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2490D-4B1C-B17E-1320-94C6F20C4438}"/>
              </a:ext>
            </a:extLst>
          </p:cNvPr>
          <p:cNvSpPr>
            <a:spLocks noGrp="1"/>
          </p:cNvSpPr>
          <p:nvPr>
            <p:ph type="ctrTitle"/>
          </p:nvPr>
        </p:nvSpPr>
        <p:spPr>
          <a:xfrm>
            <a:off x="518160" y="1703228"/>
            <a:ext cx="11155679" cy="975043"/>
          </a:xfrm>
        </p:spPr>
        <p:txBody>
          <a:bodyPr>
            <a:normAutofit/>
          </a:bodyPr>
          <a:lstStyle/>
          <a:p>
            <a:r>
              <a:rPr lang="en-US" sz="2400" dirty="0"/>
              <a:t>Detecting Fake News using Advanced Language Models:</a:t>
            </a:r>
            <a:br>
              <a:rPr lang="en-US" sz="2400" dirty="0"/>
            </a:br>
            <a:r>
              <a:rPr lang="en-US" sz="2400" dirty="0"/>
              <a:t> BERT and </a:t>
            </a:r>
            <a:r>
              <a:rPr lang="en-US" sz="2400" dirty="0" err="1"/>
              <a:t>RoBERTa</a:t>
            </a:r>
            <a:endParaRPr lang="en-IN" sz="2400" dirty="0"/>
          </a:p>
        </p:txBody>
      </p:sp>
      <p:sp>
        <p:nvSpPr>
          <p:cNvPr id="3" name="Subtitle 2">
            <a:extLst>
              <a:ext uri="{FF2B5EF4-FFF2-40B4-BE49-F238E27FC236}">
                <a16:creationId xmlns:a16="http://schemas.microsoft.com/office/drawing/2014/main" id="{42820FEA-C6A7-AD0B-84B6-CC5BFD81315A}"/>
              </a:ext>
            </a:extLst>
          </p:cNvPr>
          <p:cNvSpPr>
            <a:spLocks noGrp="1"/>
          </p:cNvSpPr>
          <p:nvPr>
            <p:ph type="subTitle" idx="1"/>
          </p:nvPr>
        </p:nvSpPr>
        <p:spPr>
          <a:xfrm>
            <a:off x="2042160" y="5626180"/>
            <a:ext cx="7924651" cy="1845150"/>
          </a:xfrm>
        </p:spPr>
        <p:txBody>
          <a:bodyPr/>
          <a:lstStyle/>
          <a:p>
            <a:r>
              <a:rPr lang="en-IN" dirty="0"/>
              <a:t>Presentation by:  Rutuja G. Gangane (P24CS004)</a:t>
            </a:r>
          </a:p>
        </p:txBody>
      </p:sp>
      <p:sp>
        <p:nvSpPr>
          <p:cNvPr id="4" name="TextBox 3">
            <a:extLst>
              <a:ext uri="{FF2B5EF4-FFF2-40B4-BE49-F238E27FC236}">
                <a16:creationId xmlns:a16="http://schemas.microsoft.com/office/drawing/2014/main" id="{1DBB5160-9FBE-E146-2DCF-2FE021CA0662}"/>
              </a:ext>
            </a:extLst>
          </p:cNvPr>
          <p:cNvSpPr txBox="1"/>
          <p:nvPr/>
        </p:nvSpPr>
        <p:spPr>
          <a:xfrm>
            <a:off x="2499359" y="3690560"/>
            <a:ext cx="7193280" cy="461665"/>
          </a:xfrm>
          <a:prstGeom prst="rect">
            <a:avLst/>
          </a:prstGeom>
          <a:noFill/>
        </p:spPr>
        <p:txBody>
          <a:bodyPr wrap="square" rtlCol="0">
            <a:spAutoFit/>
          </a:bodyPr>
          <a:lstStyle/>
          <a:p>
            <a:r>
              <a:rPr lang="en-IN" sz="2400" dirty="0"/>
              <a:t>Guided by:  Dr. Alok Kumar(Assistant Professor)</a:t>
            </a:r>
          </a:p>
        </p:txBody>
      </p:sp>
      <p:sp>
        <p:nvSpPr>
          <p:cNvPr id="6" name="TextBox 5">
            <a:extLst>
              <a:ext uri="{FF2B5EF4-FFF2-40B4-BE49-F238E27FC236}">
                <a16:creationId xmlns:a16="http://schemas.microsoft.com/office/drawing/2014/main" id="{B44A42A2-2DE9-E9DB-3EE8-EDC0296146B8}"/>
              </a:ext>
            </a:extLst>
          </p:cNvPr>
          <p:cNvSpPr txBox="1"/>
          <p:nvPr/>
        </p:nvSpPr>
        <p:spPr>
          <a:xfrm>
            <a:off x="1386840" y="309245"/>
            <a:ext cx="10805160" cy="738664"/>
          </a:xfrm>
          <a:prstGeom prst="rect">
            <a:avLst/>
          </a:prstGeom>
          <a:noFill/>
        </p:spPr>
        <p:txBody>
          <a:bodyPr wrap="square" rtlCol="0">
            <a:spAutoFit/>
          </a:bodyPr>
          <a:lstStyle/>
          <a:p>
            <a:r>
              <a:rPr lang="en-IN" sz="2400" dirty="0"/>
              <a:t>SARDAR VALLABHBHAI NATIONAL INSTITUTE OF TECHNOLOGY, SURAT</a:t>
            </a:r>
          </a:p>
          <a:p>
            <a:r>
              <a:rPr lang="en-IN" dirty="0"/>
              <a:t> </a:t>
            </a:r>
          </a:p>
        </p:txBody>
      </p:sp>
      <p:pic>
        <p:nvPicPr>
          <p:cNvPr id="9" name="Picture 8">
            <a:extLst>
              <a:ext uri="{FF2B5EF4-FFF2-40B4-BE49-F238E27FC236}">
                <a16:creationId xmlns:a16="http://schemas.microsoft.com/office/drawing/2014/main" id="{5683D81D-E3F2-D93D-030A-FB4281D1735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5240" y="16828"/>
            <a:ext cx="1371600" cy="1276350"/>
          </a:xfrm>
          <a:prstGeom prst="rect">
            <a:avLst/>
          </a:prstGeom>
        </p:spPr>
      </p:pic>
    </p:spTree>
    <p:extLst>
      <p:ext uri="{BB962C8B-B14F-4D97-AF65-F5344CB8AC3E}">
        <p14:creationId xmlns:p14="http://schemas.microsoft.com/office/powerpoint/2010/main" val="3538239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500D7-F5F1-EBFB-5458-4C54D33AE5B7}"/>
              </a:ext>
            </a:extLst>
          </p:cNvPr>
          <p:cNvSpPr>
            <a:spLocks noGrp="1"/>
          </p:cNvSpPr>
          <p:nvPr>
            <p:ph type="title"/>
          </p:nvPr>
        </p:nvSpPr>
        <p:spPr/>
        <p:txBody>
          <a:bodyPr/>
          <a:lstStyle/>
          <a:p>
            <a:r>
              <a:rPr lang="en-IN" dirty="0"/>
              <a:t>Contents </a:t>
            </a:r>
          </a:p>
        </p:txBody>
      </p:sp>
      <p:sp>
        <p:nvSpPr>
          <p:cNvPr id="3" name="Content Placeholder 2">
            <a:extLst>
              <a:ext uri="{FF2B5EF4-FFF2-40B4-BE49-F238E27FC236}">
                <a16:creationId xmlns:a16="http://schemas.microsoft.com/office/drawing/2014/main" id="{7F3FA891-EB7A-E466-4073-3701A28962D0}"/>
              </a:ext>
            </a:extLst>
          </p:cNvPr>
          <p:cNvSpPr>
            <a:spLocks noGrp="1"/>
          </p:cNvSpPr>
          <p:nvPr>
            <p:ph idx="1"/>
          </p:nvPr>
        </p:nvSpPr>
        <p:spPr/>
        <p:txBody>
          <a:bodyPr>
            <a:normAutofit/>
          </a:bodyPr>
          <a:lstStyle/>
          <a:p>
            <a:r>
              <a:rPr lang="en-IN" dirty="0"/>
              <a:t>Introduction</a:t>
            </a:r>
          </a:p>
          <a:p>
            <a:r>
              <a:rPr lang="en-IN" dirty="0"/>
              <a:t>Related work</a:t>
            </a:r>
          </a:p>
          <a:p>
            <a:r>
              <a:rPr lang="en-IN" dirty="0"/>
              <a:t>Proposed work </a:t>
            </a:r>
          </a:p>
          <a:p>
            <a:r>
              <a:rPr lang="en-IN" dirty="0"/>
              <a:t>Methodology</a:t>
            </a:r>
          </a:p>
          <a:p>
            <a:r>
              <a:rPr lang="en-IN" dirty="0"/>
              <a:t>Future scope </a:t>
            </a:r>
          </a:p>
          <a:p>
            <a:r>
              <a:rPr lang="en-IN" dirty="0"/>
              <a:t>Conclusion</a:t>
            </a:r>
          </a:p>
          <a:p>
            <a:endParaRPr lang="en-IN" dirty="0"/>
          </a:p>
        </p:txBody>
      </p:sp>
    </p:spTree>
    <p:extLst>
      <p:ext uri="{BB962C8B-B14F-4D97-AF65-F5344CB8AC3E}">
        <p14:creationId xmlns:p14="http://schemas.microsoft.com/office/powerpoint/2010/main" val="2905958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87130-3073-F9F0-9BFC-8CA96EBD4350}"/>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40AE37F9-6665-F7C7-0FE4-FE1D6DF04796}"/>
              </a:ext>
            </a:extLst>
          </p:cNvPr>
          <p:cNvSpPr>
            <a:spLocks noGrp="1"/>
          </p:cNvSpPr>
          <p:nvPr>
            <p:ph idx="1"/>
          </p:nvPr>
        </p:nvSpPr>
        <p:spPr/>
        <p:txBody>
          <a:bodyPr/>
          <a:lstStyle/>
          <a:p>
            <a:r>
              <a:rPr lang="en-US" dirty="0"/>
              <a:t>The widespread use of social media has accelerated the dissemination of fake news, which can manipulate public opinion and threaten societal integrity. Fake news includes intentionally false content and is often disseminated for political or financial gain. Identifying it is complex due to varied content types and formats. This paper aims to tackle this challenge using transformer-based language models like BERT and </a:t>
            </a:r>
            <a:r>
              <a:rPr lang="en-US" dirty="0" err="1"/>
              <a:t>RoBERTa</a:t>
            </a:r>
            <a:r>
              <a:rPr lang="en-US" dirty="0"/>
              <a:t>.</a:t>
            </a:r>
            <a:endParaRPr lang="en-IN" dirty="0"/>
          </a:p>
        </p:txBody>
      </p:sp>
    </p:spTree>
    <p:extLst>
      <p:ext uri="{BB962C8B-B14F-4D97-AF65-F5344CB8AC3E}">
        <p14:creationId xmlns:p14="http://schemas.microsoft.com/office/powerpoint/2010/main" val="4107637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8695B-91D7-A120-D1EE-C9AE452C0BD4}"/>
              </a:ext>
            </a:extLst>
          </p:cNvPr>
          <p:cNvSpPr>
            <a:spLocks noGrp="1"/>
          </p:cNvSpPr>
          <p:nvPr>
            <p:ph type="title"/>
          </p:nvPr>
        </p:nvSpPr>
        <p:spPr/>
        <p:txBody>
          <a:bodyPr/>
          <a:lstStyle/>
          <a:p>
            <a:r>
              <a:rPr lang="en-IN" dirty="0"/>
              <a:t>Related work</a:t>
            </a:r>
          </a:p>
        </p:txBody>
      </p:sp>
      <p:sp>
        <p:nvSpPr>
          <p:cNvPr id="3" name="Content Placeholder 2">
            <a:extLst>
              <a:ext uri="{FF2B5EF4-FFF2-40B4-BE49-F238E27FC236}">
                <a16:creationId xmlns:a16="http://schemas.microsoft.com/office/drawing/2014/main" id="{F7F1DEAC-D38A-BCD6-558C-F71205370C93}"/>
              </a:ext>
            </a:extLst>
          </p:cNvPr>
          <p:cNvSpPr>
            <a:spLocks noGrp="1"/>
          </p:cNvSpPr>
          <p:nvPr>
            <p:ph idx="1"/>
          </p:nvPr>
        </p:nvSpPr>
        <p:spPr/>
        <p:txBody>
          <a:bodyPr/>
          <a:lstStyle/>
          <a:p>
            <a:pPr>
              <a:buNone/>
            </a:pPr>
            <a:r>
              <a:rPr lang="en-US" dirty="0"/>
              <a:t>Earlier methods for fake news detection employed:</a:t>
            </a:r>
          </a:p>
          <a:p>
            <a:pPr>
              <a:buFont typeface="Arial" panose="020B0604020202020204" pitchFamily="34" charset="0"/>
              <a:buChar char="•"/>
            </a:pPr>
            <a:r>
              <a:rPr lang="en-US" b="1" dirty="0"/>
              <a:t>Traditional ML</a:t>
            </a:r>
            <a:r>
              <a:rPr lang="en-US" dirty="0"/>
              <a:t>: Algorithms like SVM, Naive Bayes, and Logistic Regression using textual features like TF-IDF.</a:t>
            </a:r>
          </a:p>
          <a:p>
            <a:pPr>
              <a:buFont typeface="Arial" panose="020B0604020202020204" pitchFamily="34" charset="0"/>
              <a:buChar char="•"/>
            </a:pPr>
            <a:r>
              <a:rPr lang="en-US" b="1" dirty="0"/>
              <a:t>Deep Learning</a:t>
            </a:r>
            <a:r>
              <a:rPr lang="en-US" dirty="0"/>
              <a:t>: CNNs, RNNs, and hybrid models that improved accuracy by capturing deeper text representations.</a:t>
            </a:r>
          </a:p>
          <a:p>
            <a:pPr>
              <a:buFont typeface="Arial" panose="020B0604020202020204" pitchFamily="34" charset="0"/>
              <a:buChar char="•"/>
            </a:pPr>
            <a:r>
              <a:rPr lang="en-US" b="1" dirty="0"/>
              <a:t>Advanced Language Models</a:t>
            </a:r>
            <a:r>
              <a:rPr lang="en-US" dirty="0"/>
              <a:t>: BERT-based architectures (including enhanced and hybrid models) have recently shown better contextual understanding and improved detection accuracy.</a:t>
            </a:r>
          </a:p>
          <a:p>
            <a:endParaRPr lang="en-IN" dirty="0"/>
          </a:p>
        </p:txBody>
      </p:sp>
    </p:spTree>
    <p:extLst>
      <p:ext uri="{BB962C8B-B14F-4D97-AF65-F5344CB8AC3E}">
        <p14:creationId xmlns:p14="http://schemas.microsoft.com/office/powerpoint/2010/main" val="1814448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A2BC2-873A-A768-9BD6-695F755BA7F4}"/>
              </a:ext>
            </a:extLst>
          </p:cNvPr>
          <p:cNvSpPr>
            <a:spLocks noGrp="1"/>
          </p:cNvSpPr>
          <p:nvPr>
            <p:ph type="title"/>
          </p:nvPr>
        </p:nvSpPr>
        <p:spPr/>
        <p:txBody>
          <a:bodyPr/>
          <a:lstStyle/>
          <a:p>
            <a:r>
              <a:rPr lang="en-IN" dirty="0"/>
              <a:t>Proposed work</a:t>
            </a:r>
          </a:p>
        </p:txBody>
      </p:sp>
      <p:sp>
        <p:nvSpPr>
          <p:cNvPr id="3" name="Content Placeholder 2">
            <a:extLst>
              <a:ext uri="{FF2B5EF4-FFF2-40B4-BE49-F238E27FC236}">
                <a16:creationId xmlns:a16="http://schemas.microsoft.com/office/drawing/2014/main" id="{37664382-F1F0-7716-0398-BC7DF127A3C8}"/>
              </a:ext>
            </a:extLst>
          </p:cNvPr>
          <p:cNvSpPr>
            <a:spLocks noGrp="1"/>
          </p:cNvSpPr>
          <p:nvPr>
            <p:ph idx="1"/>
          </p:nvPr>
        </p:nvSpPr>
        <p:spPr/>
        <p:txBody>
          <a:bodyPr/>
          <a:lstStyle/>
          <a:p>
            <a:pPr>
              <a:buNone/>
            </a:pPr>
            <a:r>
              <a:rPr lang="en-US" dirty="0"/>
              <a:t>The authors propose a fake news detection model using:</a:t>
            </a:r>
          </a:p>
          <a:p>
            <a:pPr>
              <a:buFont typeface="Arial" panose="020B0604020202020204" pitchFamily="34" charset="0"/>
              <a:buChar char="•"/>
            </a:pPr>
            <a:r>
              <a:rPr lang="en-US" b="1" dirty="0"/>
              <a:t>BERT and </a:t>
            </a:r>
            <a:r>
              <a:rPr lang="en-US" b="1" dirty="0" err="1"/>
              <a:t>RoBERTa</a:t>
            </a:r>
            <a:r>
              <a:rPr lang="en-US" dirty="0"/>
              <a:t> language models.</a:t>
            </a:r>
          </a:p>
          <a:p>
            <a:pPr>
              <a:buFont typeface="Arial" panose="020B0604020202020204" pitchFamily="34" charset="0"/>
              <a:buChar char="•"/>
            </a:pPr>
            <a:r>
              <a:rPr lang="en-US" dirty="0"/>
              <a:t>A focus on effective tokenization.</a:t>
            </a:r>
          </a:p>
          <a:p>
            <a:pPr>
              <a:buFont typeface="Arial" panose="020B0604020202020204" pitchFamily="34" charset="0"/>
              <a:buChar char="•"/>
            </a:pPr>
            <a:r>
              <a:rPr lang="en-US" dirty="0"/>
              <a:t>Evaluation on the </a:t>
            </a:r>
            <a:r>
              <a:rPr lang="en-US" b="1" dirty="0"/>
              <a:t>LIAR dataset</a:t>
            </a:r>
            <a:r>
              <a:rPr lang="en-US" dirty="0"/>
              <a:t>, which includes manually fact-checked political statements.</a:t>
            </a:r>
          </a:p>
          <a:p>
            <a:pPr marL="0" indent="0">
              <a:buNone/>
            </a:pPr>
            <a:endParaRPr lang="en-IN" dirty="0"/>
          </a:p>
        </p:txBody>
      </p:sp>
    </p:spTree>
    <p:extLst>
      <p:ext uri="{BB962C8B-B14F-4D97-AF65-F5344CB8AC3E}">
        <p14:creationId xmlns:p14="http://schemas.microsoft.com/office/powerpoint/2010/main" val="3987699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7AF67-5192-639D-3EB8-6E61751E29D5}"/>
              </a:ext>
            </a:extLst>
          </p:cNvPr>
          <p:cNvSpPr>
            <a:spLocks noGrp="1"/>
          </p:cNvSpPr>
          <p:nvPr>
            <p:ph type="title"/>
          </p:nvPr>
        </p:nvSpPr>
        <p:spPr>
          <a:xfrm>
            <a:off x="772159" y="741680"/>
            <a:ext cx="10353761" cy="1326321"/>
          </a:xfrm>
        </p:spPr>
        <p:txBody>
          <a:bodyPr>
            <a:normAutofit fontScale="90000"/>
          </a:bodyPr>
          <a:lstStyle/>
          <a:p>
            <a:r>
              <a:rPr lang="en-US" b="1" dirty="0"/>
              <a:t>BERT Architecture – Overview &amp; Working</a:t>
            </a:r>
            <a:br>
              <a:rPr lang="en-US" b="1" dirty="0"/>
            </a:br>
            <a:endParaRPr lang="en-IN" dirty="0"/>
          </a:p>
        </p:txBody>
      </p:sp>
      <p:sp>
        <p:nvSpPr>
          <p:cNvPr id="3" name="Content Placeholder 2">
            <a:extLst>
              <a:ext uri="{FF2B5EF4-FFF2-40B4-BE49-F238E27FC236}">
                <a16:creationId xmlns:a16="http://schemas.microsoft.com/office/drawing/2014/main" id="{FBA7B463-46ED-7195-5199-14C988C2162B}"/>
              </a:ext>
            </a:extLst>
          </p:cNvPr>
          <p:cNvSpPr>
            <a:spLocks noGrp="1"/>
          </p:cNvSpPr>
          <p:nvPr>
            <p:ph idx="1"/>
          </p:nvPr>
        </p:nvSpPr>
        <p:spPr>
          <a:xfrm>
            <a:off x="772159" y="1935921"/>
            <a:ext cx="10495397" cy="3893697"/>
          </a:xfrm>
        </p:spPr>
        <p:txBody>
          <a:bodyPr>
            <a:normAutofit fontScale="85000" lnSpcReduction="20000"/>
          </a:bodyPr>
          <a:lstStyle/>
          <a:p>
            <a:pPr>
              <a:buNone/>
            </a:pPr>
            <a:r>
              <a:rPr lang="en-US" b="1" dirty="0"/>
              <a:t>BERT (Bidirectional Encoder Representations from Transformers)</a:t>
            </a:r>
            <a:r>
              <a:rPr lang="en-US" dirty="0"/>
              <a:t> is a deep learning model developed by Google for natural language processing tasks. It’s based on the </a:t>
            </a:r>
            <a:r>
              <a:rPr lang="en-US" b="1" dirty="0"/>
              <a:t>Transformer encoder architecture</a:t>
            </a:r>
            <a:r>
              <a:rPr lang="en-US" dirty="0"/>
              <a:t>, and it </a:t>
            </a:r>
            <a:r>
              <a:rPr lang="en-US" b="1" dirty="0"/>
              <a:t>reads text bidirectionally</a:t>
            </a:r>
            <a:r>
              <a:rPr lang="en-US" dirty="0"/>
              <a:t>, meaning it understands the context of a word from both the left and right sides.</a:t>
            </a:r>
          </a:p>
          <a:p>
            <a:pPr>
              <a:buNone/>
            </a:pPr>
            <a:r>
              <a:rPr lang="en-US" b="1" dirty="0"/>
              <a:t> Architecture Components:</a:t>
            </a:r>
          </a:p>
          <a:p>
            <a:pPr>
              <a:buFont typeface="Arial" panose="020B0604020202020204" pitchFamily="34" charset="0"/>
              <a:buChar char="•"/>
            </a:pPr>
            <a:r>
              <a:rPr lang="en-US" b="1" dirty="0"/>
              <a:t>Input Embeddings = Token Embedding + Segment Embedding + Positional Embedding</a:t>
            </a:r>
            <a:endParaRPr lang="en-US" dirty="0"/>
          </a:p>
          <a:p>
            <a:pPr>
              <a:buFont typeface="Arial" panose="020B0604020202020204" pitchFamily="34" charset="0"/>
              <a:buChar char="•"/>
            </a:pPr>
            <a:r>
              <a:rPr lang="en-US" dirty="0"/>
              <a:t>Uses a </a:t>
            </a:r>
            <a:r>
              <a:rPr lang="en-US" b="1" dirty="0"/>
              <a:t>[CLS] token</a:t>
            </a:r>
            <a:r>
              <a:rPr lang="en-US" dirty="0"/>
              <a:t> for classification tasks</a:t>
            </a:r>
          </a:p>
          <a:p>
            <a:pPr>
              <a:buFont typeface="Arial" panose="020B0604020202020204" pitchFamily="34" charset="0"/>
              <a:buChar char="•"/>
            </a:pPr>
            <a:r>
              <a:rPr lang="en-US" dirty="0"/>
              <a:t>Uses </a:t>
            </a:r>
            <a:r>
              <a:rPr lang="en-US" b="1" dirty="0"/>
              <a:t>Self-Attention Mechanism</a:t>
            </a:r>
            <a:r>
              <a:rPr lang="en-US" dirty="0"/>
              <a:t> to model relationships between all words</a:t>
            </a:r>
          </a:p>
          <a:p>
            <a:pPr>
              <a:buFont typeface="Arial" panose="020B0604020202020204" pitchFamily="34" charset="0"/>
              <a:buChar char="•"/>
            </a:pPr>
            <a:r>
              <a:rPr lang="en-US" dirty="0"/>
              <a:t>Trained with two objectives:</a:t>
            </a:r>
          </a:p>
          <a:p>
            <a:pPr marL="742950" lvl="1" indent="-285750">
              <a:buFont typeface="Arial" panose="020B0604020202020204" pitchFamily="34" charset="0"/>
              <a:buChar char="•"/>
            </a:pPr>
            <a:r>
              <a:rPr lang="en-US" b="1" dirty="0"/>
              <a:t>Masked Language Modeling (MLM):</a:t>
            </a:r>
            <a:r>
              <a:rPr lang="en-US" dirty="0"/>
              <a:t> 15% of words are masked; model predicts them.</a:t>
            </a:r>
          </a:p>
          <a:p>
            <a:pPr marL="742950" lvl="1" indent="-285750">
              <a:buFont typeface="Arial" panose="020B0604020202020204" pitchFamily="34" charset="0"/>
              <a:buChar char="•"/>
            </a:pPr>
            <a:r>
              <a:rPr lang="en-US" b="1" dirty="0"/>
              <a:t>Next Sentence Prediction (NSP):</a:t>
            </a:r>
            <a:r>
              <a:rPr lang="en-US" dirty="0"/>
              <a:t> Model learns the relationship between sentence pairs.</a:t>
            </a:r>
          </a:p>
          <a:p>
            <a:endParaRPr lang="en-IN" dirty="0"/>
          </a:p>
        </p:txBody>
      </p:sp>
    </p:spTree>
    <p:extLst>
      <p:ext uri="{BB962C8B-B14F-4D97-AF65-F5344CB8AC3E}">
        <p14:creationId xmlns:p14="http://schemas.microsoft.com/office/powerpoint/2010/main" val="1513633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A27B6-70BF-7475-7884-F015BE65C612}"/>
              </a:ext>
            </a:extLst>
          </p:cNvPr>
          <p:cNvSpPr>
            <a:spLocks noGrp="1"/>
          </p:cNvSpPr>
          <p:nvPr>
            <p:ph type="title"/>
          </p:nvPr>
        </p:nvSpPr>
        <p:spPr/>
        <p:txBody>
          <a:bodyPr/>
          <a:lstStyle/>
          <a:p>
            <a:r>
              <a:rPr lang="en-IN" dirty="0"/>
              <a:t>Bert-base model</a:t>
            </a:r>
          </a:p>
        </p:txBody>
      </p:sp>
      <p:pic>
        <p:nvPicPr>
          <p:cNvPr id="5" name="Content Placeholder 4">
            <a:extLst>
              <a:ext uri="{FF2B5EF4-FFF2-40B4-BE49-F238E27FC236}">
                <a16:creationId xmlns:a16="http://schemas.microsoft.com/office/drawing/2014/main" id="{76AEF9DE-FB05-7447-3443-2D57151245A3}"/>
              </a:ext>
            </a:extLst>
          </p:cNvPr>
          <p:cNvPicPr>
            <a:picLocks noGrp="1" noChangeAspect="1"/>
          </p:cNvPicPr>
          <p:nvPr>
            <p:ph idx="1"/>
          </p:nvPr>
        </p:nvPicPr>
        <p:blipFill>
          <a:blip r:embed="rId2"/>
          <a:stretch>
            <a:fillRect/>
          </a:stretch>
        </p:blipFill>
        <p:spPr>
          <a:xfrm>
            <a:off x="2786369" y="2095500"/>
            <a:ext cx="6609737" cy="3695700"/>
          </a:xfrm>
        </p:spPr>
      </p:pic>
    </p:spTree>
    <p:extLst>
      <p:ext uri="{BB962C8B-B14F-4D97-AF65-F5344CB8AC3E}">
        <p14:creationId xmlns:p14="http://schemas.microsoft.com/office/powerpoint/2010/main" val="1444842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A0B4F-B13E-DDE2-DA16-253C778CD90A}"/>
              </a:ext>
            </a:extLst>
          </p:cNvPr>
          <p:cNvSpPr>
            <a:spLocks noGrp="1"/>
          </p:cNvSpPr>
          <p:nvPr>
            <p:ph type="title"/>
          </p:nvPr>
        </p:nvSpPr>
        <p:spPr/>
        <p:txBody>
          <a:bodyPr/>
          <a:lstStyle/>
          <a:p>
            <a:r>
              <a:rPr lang="en-IN" dirty="0"/>
              <a:t>BERT MODEL WORKING</a:t>
            </a:r>
          </a:p>
        </p:txBody>
      </p:sp>
      <p:sp>
        <p:nvSpPr>
          <p:cNvPr id="3" name="Content Placeholder 2">
            <a:extLst>
              <a:ext uri="{FF2B5EF4-FFF2-40B4-BE49-F238E27FC236}">
                <a16:creationId xmlns:a16="http://schemas.microsoft.com/office/drawing/2014/main" id="{CF19A905-78BD-C226-81A5-D5E25C7F3438}"/>
              </a:ext>
            </a:extLst>
          </p:cNvPr>
          <p:cNvSpPr>
            <a:spLocks noGrp="1"/>
          </p:cNvSpPr>
          <p:nvPr>
            <p:ph idx="1"/>
          </p:nvPr>
        </p:nvSpPr>
        <p:spPr/>
        <p:txBody>
          <a:bodyPr/>
          <a:lstStyle/>
          <a:p>
            <a:pPr>
              <a:buNone/>
            </a:pPr>
            <a:r>
              <a:rPr lang="en-US" b="1" dirty="0"/>
              <a:t>How it works:</a:t>
            </a:r>
          </a:p>
          <a:p>
            <a:pPr>
              <a:buFont typeface="+mj-lt"/>
              <a:buAutoNum type="arabicPeriod"/>
            </a:pPr>
            <a:r>
              <a:rPr lang="en-US" b="1" dirty="0"/>
              <a:t>Text is tokenized</a:t>
            </a:r>
            <a:r>
              <a:rPr lang="en-US" dirty="0"/>
              <a:t> using </a:t>
            </a:r>
            <a:r>
              <a:rPr lang="en-US" dirty="0" err="1"/>
              <a:t>WordPiece</a:t>
            </a:r>
            <a:r>
              <a:rPr lang="en-US" dirty="0"/>
              <a:t> tokenizer.</a:t>
            </a:r>
          </a:p>
          <a:p>
            <a:pPr>
              <a:buFont typeface="+mj-lt"/>
              <a:buAutoNum type="arabicPeriod"/>
            </a:pPr>
            <a:r>
              <a:rPr lang="en-US" dirty="0"/>
              <a:t>Tokens are converted to embeddings and input to Transformer layers.</a:t>
            </a:r>
          </a:p>
          <a:p>
            <a:pPr>
              <a:buFont typeface="+mj-lt"/>
              <a:buAutoNum type="arabicPeriod"/>
            </a:pPr>
            <a:r>
              <a:rPr lang="en-US" b="1" dirty="0"/>
              <a:t>Self-attention layers</a:t>
            </a:r>
            <a:r>
              <a:rPr lang="en-US" dirty="0"/>
              <a:t> compute contextual relationships across all tokens.</a:t>
            </a:r>
          </a:p>
          <a:p>
            <a:pPr>
              <a:buFont typeface="+mj-lt"/>
              <a:buAutoNum type="arabicPeriod"/>
            </a:pPr>
            <a:r>
              <a:rPr lang="en-US" dirty="0"/>
              <a:t>The final </a:t>
            </a:r>
            <a:r>
              <a:rPr lang="en-US" b="1" dirty="0"/>
              <a:t>[CLS] token</a:t>
            </a:r>
            <a:r>
              <a:rPr lang="en-US" dirty="0"/>
              <a:t> embedding is used for classification (e.g., fake or true news).</a:t>
            </a:r>
          </a:p>
          <a:p>
            <a:endParaRPr lang="en-IN" dirty="0"/>
          </a:p>
        </p:txBody>
      </p:sp>
    </p:spTree>
    <p:extLst>
      <p:ext uri="{BB962C8B-B14F-4D97-AF65-F5344CB8AC3E}">
        <p14:creationId xmlns:p14="http://schemas.microsoft.com/office/powerpoint/2010/main" val="2487493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D0435-F9FD-F531-CEF9-FEB91B98D4AE}"/>
              </a:ext>
            </a:extLst>
          </p:cNvPr>
          <p:cNvSpPr>
            <a:spLocks noGrp="1"/>
          </p:cNvSpPr>
          <p:nvPr>
            <p:ph type="title"/>
          </p:nvPr>
        </p:nvSpPr>
        <p:spPr>
          <a:xfrm>
            <a:off x="416257" y="690880"/>
            <a:ext cx="11348837" cy="1326321"/>
          </a:xfrm>
        </p:spPr>
        <p:txBody>
          <a:bodyPr>
            <a:normAutofit fontScale="90000"/>
          </a:bodyPr>
          <a:lstStyle/>
          <a:p>
            <a:r>
              <a:rPr lang="en-US" b="1" dirty="0" err="1"/>
              <a:t>roBERTa</a:t>
            </a:r>
            <a:r>
              <a:rPr lang="en-US" b="1" dirty="0"/>
              <a:t> Architecture – Overview &amp; Working</a:t>
            </a:r>
            <a:br>
              <a:rPr lang="en-US" b="1" dirty="0"/>
            </a:br>
            <a:endParaRPr lang="en-IN" dirty="0"/>
          </a:p>
        </p:txBody>
      </p:sp>
      <p:sp>
        <p:nvSpPr>
          <p:cNvPr id="3" name="Content Placeholder 2">
            <a:extLst>
              <a:ext uri="{FF2B5EF4-FFF2-40B4-BE49-F238E27FC236}">
                <a16:creationId xmlns:a16="http://schemas.microsoft.com/office/drawing/2014/main" id="{62785739-C084-B07A-7E13-595D391B3BEE}"/>
              </a:ext>
            </a:extLst>
          </p:cNvPr>
          <p:cNvSpPr>
            <a:spLocks noGrp="1"/>
          </p:cNvSpPr>
          <p:nvPr>
            <p:ph idx="1"/>
          </p:nvPr>
        </p:nvSpPr>
        <p:spPr/>
        <p:txBody>
          <a:bodyPr>
            <a:normAutofit/>
          </a:bodyPr>
          <a:lstStyle/>
          <a:p>
            <a:pPr>
              <a:buNone/>
            </a:pPr>
            <a:r>
              <a:rPr lang="en-US" b="1" dirty="0" err="1"/>
              <a:t>RoBERTa</a:t>
            </a:r>
            <a:r>
              <a:rPr lang="en-US" b="1" dirty="0"/>
              <a:t> (Robustly Optimized BERT Approach)</a:t>
            </a:r>
            <a:r>
              <a:rPr lang="en-US" dirty="0"/>
              <a:t> is an </a:t>
            </a:r>
            <a:r>
              <a:rPr lang="en-US" b="1" dirty="0"/>
              <a:t>improved version of BERT</a:t>
            </a:r>
            <a:r>
              <a:rPr lang="en-US" dirty="0"/>
              <a:t> by Facebook AI. It retains BERT’s base architecture but </a:t>
            </a:r>
            <a:r>
              <a:rPr lang="en-US" b="1" dirty="0"/>
              <a:t>modifies training strategies</a:t>
            </a:r>
            <a:r>
              <a:rPr lang="en-US" dirty="0"/>
              <a:t> for better performance.</a:t>
            </a:r>
          </a:p>
          <a:p>
            <a:pPr>
              <a:buNone/>
            </a:pPr>
            <a:r>
              <a:rPr lang="en-US" b="1" dirty="0"/>
              <a:t>Key Improvements Over BERT:</a:t>
            </a:r>
          </a:p>
          <a:p>
            <a:pPr>
              <a:buFont typeface="Arial" panose="020B0604020202020204" pitchFamily="34" charset="0"/>
              <a:buChar char="•"/>
            </a:pPr>
            <a:r>
              <a:rPr lang="en-US" b="1" dirty="0"/>
              <a:t>Removes NSP task</a:t>
            </a:r>
            <a:endParaRPr lang="en-US" dirty="0"/>
          </a:p>
          <a:p>
            <a:pPr>
              <a:buFont typeface="Arial" panose="020B0604020202020204" pitchFamily="34" charset="0"/>
              <a:buChar char="•"/>
            </a:pPr>
            <a:r>
              <a:rPr lang="en-US" b="1" dirty="0"/>
              <a:t>Trained on more data</a:t>
            </a:r>
            <a:r>
              <a:rPr lang="en-US" dirty="0"/>
              <a:t> and for a longer time</a:t>
            </a:r>
          </a:p>
          <a:p>
            <a:pPr>
              <a:buFont typeface="Arial" panose="020B0604020202020204" pitchFamily="34" charset="0"/>
              <a:buChar char="•"/>
            </a:pPr>
            <a:r>
              <a:rPr lang="en-US" dirty="0"/>
              <a:t>Uses </a:t>
            </a:r>
            <a:r>
              <a:rPr lang="en-US" b="1" dirty="0"/>
              <a:t>larger batch sizes</a:t>
            </a:r>
            <a:r>
              <a:rPr lang="en-US" dirty="0"/>
              <a:t> and </a:t>
            </a:r>
            <a:r>
              <a:rPr lang="en-US" b="1" dirty="0"/>
              <a:t>longer input sequences</a:t>
            </a:r>
            <a:endParaRPr lang="en-US" dirty="0"/>
          </a:p>
          <a:p>
            <a:pPr>
              <a:buFont typeface="Arial" panose="020B0604020202020204" pitchFamily="34" charset="0"/>
              <a:buChar char="•"/>
            </a:pPr>
            <a:r>
              <a:rPr lang="en-US" b="1" dirty="0"/>
              <a:t>Dynamic masking</a:t>
            </a:r>
            <a:r>
              <a:rPr lang="en-US" dirty="0"/>
              <a:t> instead of static masking</a:t>
            </a:r>
          </a:p>
          <a:p>
            <a:endParaRPr lang="en-IN" dirty="0"/>
          </a:p>
        </p:txBody>
      </p:sp>
    </p:spTree>
    <p:extLst>
      <p:ext uri="{BB962C8B-B14F-4D97-AF65-F5344CB8AC3E}">
        <p14:creationId xmlns:p14="http://schemas.microsoft.com/office/powerpoint/2010/main" val="3322670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B81CC-7918-A75B-2FA7-4F00A76A36BA}"/>
              </a:ext>
            </a:extLst>
          </p:cNvPr>
          <p:cNvSpPr>
            <a:spLocks noGrp="1"/>
          </p:cNvSpPr>
          <p:nvPr>
            <p:ph type="title"/>
          </p:nvPr>
        </p:nvSpPr>
        <p:spPr/>
        <p:txBody>
          <a:bodyPr/>
          <a:lstStyle/>
          <a:p>
            <a:r>
              <a:rPr lang="en-US" b="1" dirty="0" err="1"/>
              <a:t>roBERTa</a:t>
            </a:r>
            <a:r>
              <a:rPr lang="en-US" b="1" dirty="0"/>
              <a:t> Model working</a:t>
            </a:r>
            <a:endParaRPr lang="en-IN" dirty="0"/>
          </a:p>
        </p:txBody>
      </p:sp>
      <p:sp>
        <p:nvSpPr>
          <p:cNvPr id="7" name="Rectangle 4">
            <a:extLst>
              <a:ext uri="{FF2B5EF4-FFF2-40B4-BE49-F238E27FC236}">
                <a16:creationId xmlns:a16="http://schemas.microsoft.com/office/drawing/2014/main" id="{0A65EF23-B3BC-50AD-5099-428E155D7D65}"/>
              </a:ext>
            </a:extLst>
          </p:cNvPr>
          <p:cNvSpPr>
            <a:spLocks noGrp="1" noChangeArrowheads="1"/>
          </p:cNvSpPr>
          <p:nvPr>
            <p:ph idx="1"/>
          </p:nvPr>
        </p:nvSpPr>
        <p:spPr bwMode="auto">
          <a:xfrm>
            <a:off x="913794" y="2420823"/>
            <a:ext cx="10353761" cy="2728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None/>
            </a:pPr>
            <a:r>
              <a:rPr lang="en-US" b="1" dirty="0"/>
              <a:t>How it works:</a:t>
            </a:r>
          </a:p>
          <a:p>
            <a:pPr>
              <a:buFont typeface="+mj-lt"/>
              <a:buAutoNum type="arabicPeriod"/>
            </a:pPr>
            <a:r>
              <a:rPr lang="en-US" dirty="0"/>
              <a:t>Follows BERT's tokenization and embedding strategy.</a:t>
            </a:r>
          </a:p>
          <a:p>
            <a:pPr>
              <a:buFont typeface="+mj-lt"/>
              <a:buAutoNum type="arabicPeriod"/>
            </a:pPr>
            <a:r>
              <a:rPr lang="en-US" dirty="0"/>
              <a:t>Applies only </a:t>
            </a:r>
            <a:r>
              <a:rPr lang="en-US" b="1" dirty="0"/>
              <a:t>Masked Language Modeling</a:t>
            </a:r>
            <a:r>
              <a:rPr lang="en-US" dirty="0"/>
              <a:t> (no NSP).</a:t>
            </a:r>
          </a:p>
          <a:p>
            <a:pPr>
              <a:buFont typeface="+mj-lt"/>
              <a:buAutoNum type="arabicPeriod"/>
            </a:pPr>
            <a:r>
              <a:rPr lang="en-US" dirty="0"/>
              <a:t>Uses a </a:t>
            </a:r>
            <a:r>
              <a:rPr lang="en-US" b="1" dirty="0"/>
              <a:t>more diverse and dynamic training strategy</a:t>
            </a:r>
            <a:r>
              <a:rPr lang="en-US" dirty="0"/>
              <a:t>, improving generalization.</a:t>
            </a:r>
          </a:p>
          <a:p>
            <a:pPr>
              <a:buFont typeface="+mj-lt"/>
              <a:buAutoNum type="arabicPeriod"/>
            </a:pPr>
            <a:r>
              <a:rPr lang="en-US" dirty="0"/>
              <a:t>Outputs classification results from the final </a:t>
            </a:r>
            <a:r>
              <a:rPr lang="en-US" b="1" dirty="0"/>
              <a:t>[CLS] embedding</a:t>
            </a:r>
            <a:r>
              <a:rPr lang="en-US" dirty="0"/>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55544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C129-CF7C-8AFD-0607-F7F5AA734749}"/>
              </a:ext>
            </a:extLst>
          </p:cNvPr>
          <p:cNvSpPr>
            <a:spLocks noGrp="1"/>
          </p:cNvSpPr>
          <p:nvPr>
            <p:ph type="title"/>
          </p:nvPr>
        </p:nvSpPr>
        <p:spPr/>
        <p:txBody>
          <a:bodyPr/>
          <a:lstStyle/>
          <a:p>
            <a:r>
              <a:rPr lang="en-US" dirty="0"/>
              <a:t>BERT vs. </a:t>
            </a:r>
            <a:r>
              <a:rPr lang="en-US" dirty="0" err="1"/>
              <a:t>RoBERTa</a:t>
            </a:r>
            <a:r>
              <a:rPr lang="en-US" dirty="0"/>
              <a:t> – Key Differences</a:t>
            </a:r>
            <a:endParaRPr lang="en-IN" dirty="0"/>
          </a:p>
        </p:txBody>
      </p:sp>
      <p:graphicFrame>
        <p:nvGraphicFramePr>
          <p:cNvPr id="4" name="Content Placeholder 3">
            <a:extLst>
              <a:ext uri="{FF2B5EF4-FFF2-40B4-BE49-F238E27FC236}">
                <a16:creationId xmlns:a16="http://schemas.microsoft.com/office/drawing/2014/main" id="{675BE53E-7DFB-E5E6-8C5A-B736C90BF820}"/>
              </a:ext>
            </a:extLst>
          </p:cNvPr>
          <p:cNvGraphicFramePr>
            <a:graphicFrameLocks noGrp="1"/>
          </p:cNvGraphicFramePr>
          <p:nvPr>
            <p:ph idx="1"/>
            <p:extLst>
              <p:ext uri="{D42A27DB-BD31-4B8C-83A1-F6EECF244321}">
                <p14:modId xmlns:p14="http://schemas.microsoft.com/office/powerpoint/2010/main" val="3333452435"/>
              </p:ext>
            </p:extLst>
          </p:nvPr>
        </p:nvGraphicFramePr>
        <p:xfrm>
          <a:off x="386080" y="2346960"/>
          <a:ext cx="11572239" cy="3394712"/>
        </p:xfrm>
        <a:graphic>
          <a:graphicData uri="http://schemas.openxmlformats.org/drawingml/2006/table">
            <a:tbl>
              <a:tblPr/>
              <a:tblGrid>
                <a:gridCol w="3857413">
                  <a:extLst>
                    <a:ext uri="{9D8B030D-6E8A-4147-A177-3AD203B41FA5}">
                      <a16:colId xmlns:a16="http://schemas.microsoft.com/office/drawing/2014/main" val="1033828167"/>
                    </a:ext>
                  </a:extLst>
                </a:gridCol>
                <a:gridCol w="3857413">
                  <a:extLst>
                    <a:ext uri="{9D8B030D-6E8A-4147-A177-3AD203B41FA5}">
                      <a16:colId xmlns:a16="http://schemas.microsoft.com/office/drawing/2014/main" val="1687929907"/>
                    </a:ext>
                  </a:extLst>
                </a:gridCol>
                <a:gridCol w="3857413">
                  <a:extLst>
                    <a:ext uri="{9D8B030D-6E8A-4147-A177-3AD203B41FA5}">
                      <a16:colId xmlns:a16="http://schemas.microsoft.com/office/drawing/2014/main" val="1897697913"/>
                    </a:ext>
                  </a:extLst>
                </a:gridCol>
              </a:tblGrid>
              <a:tr h="399378">
                <a:tc>
                  <a:txBody>
                    <a:bodyPr/>
                    <a:lstStyle/>
                    <a:p>
                      <a:r>
                        <a:rPr lang="en-IN"/>
                        <a:t>Feature</a:t>
                      </a:r>
                    </a:p>
                  </a:txBody>
                  <a:tcPr anchor="ctr">
                    <a:lnL>
                      <a:noFill/>
                    </a:lnL>
                    <a:lnR>
                      <a:noFill/>
                    </a:lnR>
                    <a:lnT>
                      <a:noFill/>
                    </a:lnT>
                    <a:lnB>
                      <a:noFill/>
                    </a:lnB>
                    <a:noFill/>
                  </a:tcPr>
                </a:tc>
                <a:tc>
                  <a:txBody>
                    <a:bodyPr/>
                    <a:lstStyle/>
                    <a:p>
                      <a:r>
                        <a:rPr lang="en-IN"/>
                        <a:t>BERT</a:t>
                      </a:r>
                    </a:p>
                  </a:txBody>
                  <a:tcPr anchor="ctr">
                    <a:lnL>
                      <a:noFill/>
                    </a:lnL>
                    <a:lnR>
                      <a:noFill/>
                    </a:lnR>
                    <a:lnT>
                      <a:noFill/>
                    </a:lnT>
                    <a:lnB>
                      <a:noFill/>
                    </a:lnB>
                    <a:noFill/>
                  </a:tcPr>
                </a:tc>
                <a:tc>
                  <a:txBody>
                    <a:bodyPr/>
                    <a:lstStyle/>
                    <a:p>
                      <a:r>
                        <a:rPr lang="en-IN"/>
                        <a:t>RoBERTa</a:t>
                      </a:r>
                    </a:p>
                  </a:txBody>
                  <a:tcPr anchor="ctr">
                    <a:lnL>
                      <a:noFill/>
                    </a:lnL>
                    <a:lnR>
                      <a:noFill/>
                    </a:lnR>
                    <a:lnT>
                      <a:noFill/>
                    </a:lnT>
                    <a:lnB>
                      <a:noFill/>
                    </a:lnB>
                    <a:noFill/>
                  </a:tcPr>
                </a:tc>
                <a:extLst>
                  <a:ext uri="{0D108BD9-81ED-4DB2-BD59-A6C34878D82A}">
                    <a16:rowId xmlns:a16="http://schemas.microsoft.com/office/drawing/2014/main" val="1106936280"/>
                  </a:ext>
                </a:extLst>
              </a:tr>
              <a:tr h="399378">
                <a:tc>
                  <a:txBody>
                    <a:bodyPr/>
                    <a:lstStyle/>
                    <a:p>
                      <a:r>
                        <a:rPr lang="en-IN"/>
                        <a:t>Pretraining Tasks</a:t>
                      </a:r>
                    </a:p>
                  </a:txBody>
                  <a:tcPr anchor="ctr">
                    <a:lnL>
                      <a:noFill/>
                    </a:lnL>
                    <a:lnR>
                      <a:noFill/>
                    </a:lnR>
                    <a:lnT>
                      <a:noFill/>
                    </a:lnT>
                    <a:lnB>
                      <a:noFill/>
                    </a:lnB>
                    <a:noFill/>
                  </a:tcPr>
                </a:tc>
                <a:tc>
                  <a:txBody>
                    <a:bodyPr/>
                    <a:lstStyle/>
                    <a:p>
                      <a:r>
                        <a:rPr lang="en-IN"/>
                        <a:t>MLM + NSP</a:t>
                      </a:r>
                    </a:p>
                  </a:txBody>
                  <a:tcPr anchor="ctr">
                    <a:lnL>
                      <a:noFill/>
                    </a:lnL>
                    <a:lnR>
                      <a:noFill/>
                    </a:lnR>
                    <a:lnT>
                      <a:noFill/>
                    </a:lnT>
                    <a:lnB>
                      <a:noFill/>
                    </a:lnB>
                    <a:noFill/>
                  </a:tcPr>
                </a:tc>
                <a:tc>
                  <a:txBody>
                    <a:bodyPr/>
                    <a:lstStyle/>
                    <a:p>
                      <a:r>
                        <a:rPr lang="en-IN"/>
                        <a:t>MLM only (no NSP)</a:t>
                      </a:r>
                    </a:p>
                  </a:txBody>
                  <a:tcPr anchor="ctr">
                    <a:lnL>
                      <a:noFill/>
                    </a:lnL>
                    <a:lnR>
                      <a:noFill/>
                    </a:lnR>
                    <a:lnT>
                      <a:noFill/>
                    </a:lnT>
                    <a:lnB>
                      <a:noFill/>
                    </a:lnB>
                    <a:noFill/>
                  </a:tcPr>
                </a:tc>
                <a:extLst>
                  <a:ext uri="{0D108BD9-81ED-4DB2-BD59-A6C34878D82A}">
                    <a16:rowId xmlns:a16="http://schemas.microsoft.com/office/drawing/2014/main" val="5655489"/>
                  </a:ext>
                </a:extLst>
              </a:tr>
              <a:tr h="399378">
                <a:tc>
                  <a:txBody>
                    <a:bodyPr/>
                    <a:lstStyle/>
                    <a:p>
                      <a:r>
                        <a:rPr lang="en-IN"/>
                        <a:t>Training Data</a:t>
                      </a:r>
                    </a:p>
                  </a:txBody>
                  <a:tcPr anchor="ctr">
                    <a:lnL>
                      <a:noFill/>
                    </a:lnL>
                    <a:lnR>
                      <a:noFill/>
                    </a:lnR>
                    <a:lnT>
                      <a:noFill/>
                    </a:lnT>
                    <a:lnB>
                      <a:noFill/>
                    </a:lnB>
                    <a:noFill/>
                  </a:tcPr>
                </a:tc>
                <a:tc>
                  <a:txBody>
                    <a:bodyPr/>
                    <a:lstStyle/>
                    <a:p>
                      <a:r>
                        <a:rPr lang="en-IN"/>
                        <a:t>16GB</a:t>
                      </a:r>
                    </a:p>
                  </a:txBody>
                  <a:tcPr anchor="ctr">
                    <a:lnL>
                      <a:noFill/>
                    </a:lnL>
                    <a:lnR>
                      <a:noFill/>
                    </a:lnR>
                    <a:lnT>
                      <a:noFill/>
                    </a:lnT>
                    <a:lnB>
                      <a:noFill/>
                    </a:lnB>
                    <a:noFill/>
                  </a:tcPr>
                </a:tc>
                <a:tc>
                  <a:txBody>
                    <a:bodyPr/>
                    <a:lstStyle/>
                    <a:p>
                      <a:r>
                        <a:rPr lang="en-IN"/>
                        <a:t>160GB+ (10x more data)</a:t>
                      </a:r>
                    </a:p>
                  </a:txBody>
                  <a:tcPr anchor="ctr">
                    <a:lnL>
                      <a:noFill/>
                    </a:lnL>
                    <a:lnR>
                      <a:noFill/>
                    </a:lnR>
                    <a:lnT>
                      <a:noFill/>
                    </a:lnT>
                    <a:lnB>
                      <a:noFill/>
                    </a:lnB>
                    <a:noFill/>
                  </a:tcPr>
                </a:tc>
                <a:extLst>
                  <a:ext uri="{0D108BD9-81ED-4DB2-BD59-A6C34878D82A}">
                    <a16:rowId xmlns:a16="http://schemas.microsoft.com/office/drawing/2014/main" val="384978184"/>
                  </a:ext>
                </a:extLst>
              </a:tr>
              <a:tr h="399378">
                <a:tc>
                  <a:txBody>
                    <a:bodyPr/>
                    <a:lstStyle/>
                    <a:p>
                      <a:r>
                        <a:rPr lang="en-IN"/>
                        <a:t>Masking Strategy</a:t>
                      </a:r>
                    </a:p>
                  </a:txBody>
                  <a:tcPr anchor="ctr">
                    <a:lnL>
                      <a:noFill/>
                    </a:lnL>
                    <a:lnR>
                      <a:noFill/>
                    </a:lnR>
                    <a:lnT>
                      <a:noFill/>
                    </a:lnT>
                    <a:lnB>
                      <a:noFill/>
                    </a:lnB>
                    <a:noFill/>
                  </a:tcPr>
                </a:tc>
                <a:tc>
                  <a:txBody>
                    <a:bodyPr/>
                    <a:lstStyle/>
                    <a:p>
                      <a:r>
                        <a:rPr lang="en-IN"/>
                        <a:t>Static</a:t>
                      </a:r>
                    </a:p>
                  </a:txBody>
                  <a:tcPr anchor="ctr">
                    <a:lnL>
                      <a:noFill/>
                    </a:lnL>
                    <a:lnR>
                      <a:noFill/>
                    </a:lnR>
                    <a:lnT>
                      <a:noFill/>
                    </a:lnT>
                    <a:lnB>
                      <a:noFill/>
                    </a:lnB>
                    <a:noFill/>
                  </a:tcPr>
                </a:tc>
                <a:tc>
                  <a:txBody>
                    <a:bodyPr/>
                    <a:lstStyle/>
                    <a:p>
                      <a:r>
                        <a:rPr lang="en-IN"/>
                        <a:t>Dynamic</a:t>
                      </a:r>
                    </a:p>
                  </a:txBody>
                  <a:tcPr anchor="ctr">
                    <a:lnL>
                      <a:noFill/>
                    </a:lnL>
                    <a:lnR>
                      <a:noFill/>
                    </a:lnR>
                    <a:lnT>
                      <a:noFill/>
                    </a:lnT>
                    <a:lnB>
                      <a:noFill/>
                    </a:lnB>
                    <a:noFill/>
                  </a:tcPr>
                </a:tc>
                <a:extLst>
                  <a:ext uri="{0D108BD9-81ED-4DB2-BD59-A6C34878D82A}">
                    <a16:rowId xmlns:a16="http://schemas.microsoft.com/office/drawing/2014/main" val="647135787"/>
                  </a:ext>
                </a:extLst>
              </a:tr>
              <a:tr h="399378">
                <a:tc>
                  <a:txBody>
                    <a:bodyPr/>
                    <a:lstStyle/>
                    <a:p>
                      <a:r>
                        <a:rPr lang="en-IN"/>
                        <a:t>Sequence Length</a:t>
                      </a:r>
                    </a:p>
                  </a:txBody>
                  <a:tcPr anchor="ctr">
                    <a:lnL>
                      <a:noFill/>
                    </a:lnL>
                    <a:lnR>
                      <a:noFill/>
                    </a:lnR>
                    <a:lnT>
                      <a:noFill/>
                    </a:lnT>
                    <a:lnB>
                      <a:noFill/>
                    </a:lnB>
                    <a:noFill/>
                  </a:tcPr>
                </a:tc>
                <a:tc>
                  <a:txBody>
                    <a:bodyPr/>
                    <a:lstStyle/>
                    <a:p>
                      <a:r>
                        <a:rPr lang="en-IN"/>
                        <a:t>512 tokens</a:t>
                      </a:r>
                    </a:p>
                  </a:txBody>
                  <a:tcPr anchor="ctr">
                    <a:lnL>
                      <a:noFill/>
                    </a:lnL>
                    <a:lnR>
                      <a:noFill/>
                    </a:lnR>
                    <a:lnT>
                      <a:noFill/>
                    </a:lnT>
                    <a:lnB>
                      <a:noFill/>
                    </a:lnB>
                    <a:noFill/>
                  </a:tcPr>
                </a:tc>
                <a:tc>
                  <a:txBody>
                    <a:bodyPr/>
                    <a:lstStyle/>
                    <a:p>
                      <a:r>
                        <a:rPr lang="en-IN"/>
                        <a:t>1024 tokens</a:t>
                      </a:r>
                    </a:p>
                  </a:txBody>
                  <a:tcPr anchor="ctr">
                    <a:lnL>
                      <a:noFill/>
                    </a:lnL>
                    <a:lnR>
                      <a:noFill/>
                    </a:lnR>
                    <a:lnT>
                      <a:noFill/>
                    </a:lnT>
                    <a:lnB>
                      <a:noFill/>
                    </a:lnB>
                    <a:noFill/>
                  </a:tcPr>
                </a:tc>
                <a:extLst>
                  <a:ext uri="{0D108BD9-81ED-4DB2-BD59-A6C34878D82A}">
                    <a16:rowId xmlns:a16="http://schemas.microsoft.com/office/drawing/2014/main" val="3237923470"/>
                  </a:ext>
                </a:extLst>
              </a:tr>
              <a:tr h="399378">
                <a:tc>
                  <a:txBody>
                    <a:bodyPr/>
                    <a:lstStyle/>
                    <a:p>
                      <a:r>
                        <a:rPr lang="en-IN"/>
                        <a:t>Training Duration</a:t>
                      </a:r>
                    </a:p>
                  </a:txBody>
                  <a:tcPr anchor="ctr">
                    <a:lnL>
                      <a:noFill/>
                    </a:lnL>
                    <a:lnR>
                      <a:noFill/>
                    </a:lnR>
                    <a:lnT>
                      <a:noFill/>
                    </a:lnT>
                    <a:lnB>
                      <a:noFill/>
                    </a:lnB>
                    <a:noFill/>
                  </a:tcPr>
                </a:tc>
                <a:tc>
                  <a:txBody>
                    <a:bodyPr/>
                    <a:lstStyle/>
                    <a:p>
                      <a:r>
                        <a:rPr lang="en-IN"/>
                        <a:t>Shorter</a:t>
                      </a:r>
                    </a:p>
                  </a:txBody>
                  <a:tcPr anchor="ctr">
                    <a:lnL>
                      <a:noFill/>
                    </a:lnL>
                    <a:lnR>
                      <a:noFill/>
                    </a:lnR>
                    <a:lnT>
                      <a:noFill/>
                    </a:lnT>
                    <a:lnB>
                      <a:noFill/>
                    </a:lnB>
                    <a:noFill/>
                  </a:tcPr>
                </a:tc>
                <a:tc>
                  <a:txBody>
                    <a:bodyPr/>
                    <a:lstStyle/>
                    <a:p>
                      <a:r>
                        <a:rPr lang="en-IN"/>
                        <a:t>Longer</a:t>
                      </a:r>
                    </a:p>
                  </a:txBody>
                  <a:tcPr anchor="ctr">
                    <a:lnL>
                      <a:noFill/>
                    </a:lnL>
                    <a:lnR>
                      <a:noFill/>
                    </a:lnR>
                    <a:lnT>
                      <a:noFill/>
                    </a:lnT>
                    <a:lnB>
                      <a:noFill/>
                    </a:lnB>
                    <a:noFill/>
                  </a:tcPr>
                </a:tc>
                <a:extLst>
                  <a:ext uri="{0D108BD9-81ED-4DB2-BD59-A6C34878D82A}">
                    <a16:rowId xmlns:a16="http://schemas.microsoft.com/office/drawing/2014/main" val="4262068182"/>
                  </a:ext>
                </a:extLst>
              </a:tr>
              <a:tr h="998444">
                <a:tc>
                  <a:txBody>
                    <a:bodyPr/>
                    <a:lstStyle/>
                    <a:p>
                      <a:r>
                        <a:rPr lang="en-IN"/>
                        <a:t>Performance (per paper)</a:t>
                      </a:r>
                    </a:p>
                  </a:txBody>
                  <a:tcPr anchor="ctr">
                    <a:lnL>
                      <a:noFill/>
                    </a:lnL>
                    <a:lnR>
                      <a:noFill/>
                    </a:lnR>
                    <a:lnT>
                      <a:noFill/>
                    </a:lnT>
                    <a:lnB>
                      <a:noFill/>
                    </a:lnB>
                    <a:noFill/>
                  </a:tcPr>
                </a:tc>
                <a:tc>
                  <a:txBody>
                    <a:bodyPr/>
                    <a:lstStyle/>
                    <a:p>
                      <a:r>
                        <a:rPr lang="en-IN" dirty="0"/>
                        <a:t>64% Accuracy(from paper)</a:t>
                      </a:r>
                    </a:p>
                    <a:p>
                      <a:r>
                        <a:rPr lang="en-IN" dirty="0"/>
                        <a:t>63% Accuracy(in implementation)</a:t>
                      </a:r>
                    </a:p>
                  </a:txBody>
                  <a:tcPr anchor="ctr">
                    <a:lnL>
                      <a:noFill/>
                    </a:lnL>
                    <a:lnR>
                      <a:noFill/>
                    </a:lnR>
                    <a:lnT>
                      <a:noFill/>
                    </a:lnT>
                    <a:lnB>
                      <a:noFill/>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66% Accuracy(from paper)</a:t>
                      </a:r>
                    </a:p>
                    <a:p>
                      <a:r>
                        <a:rPr lang="en-IN" dirty="0"/>
                        <a:t>64% Accuracy(in implementation)</a:t>
                      </a:r>
                    </a:p>
                  </a:txBody>
                  <a:tcPr anchor="ctr">
                    <a:lnL>
                      <a:noFill/>
                    </a:lnL>
                    <a:lnR>
                      <a:noFill/>
                    </a:lnR>
                    <a:lnT>
                      <a:noFill/>
                    </a:lnT>
                    <a:lnB>
                      <a:noFill/>
                    </a:lnB>
                    <a:noFill/>
                  </a:tcPr>
                </a:tc>
                <a:extLst>
                  <a:ext uri="{0D108BD9-81ED-4DB2-BD59-A6C34878D82A}">
                    <a16:rowId xmlns:a16="http://schemas.microsoft.com/office/drawing/2014/main" val="798836020"/>
                  </a:ext>
                </a:extLst>
              </a:tr>
            </a:tbl>
          </a:graphicData>
        </a:graphic>
      </p:graphicFrame>
      <p:sp>
        <p:nvSpPr>
          <p:cNvPr id="5" name="Rectangle 1">
            <a:extLst>
              <a:ext uri="{FF2B5EF4-FFF2-40B4-BE49-F238E27FC236}">
                <a16:creationId xmlns:a16="http://schemas.microsoft.com/office/drawing/2014/main" id="{7DEFE14F-E643-3B83-038E-05E6C92DE830}"/>
              </a:ext>
            </a:extLst>
          </p:cNvPr>
          <p:cNvSpPr>
            <a:spLocks noChangeArrowheads="1"/>
          </p:cNvSpPr>
          <p:nvPr/>
        </p:nvSpPr>
        <p:spPr bwMode="auto">
          <a:xfrm>
            <a:off x="0" y="-25315"/>
            <a:ext cx="184731"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40905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08A73-916C-C2D6-B50B-7F87DC460159}"/>
              </a:ext>
            </a:extLst>
          </p:cNvPr>
          <p:cNvSpPr>
            <a:spLocks noGrp="1"/>
          </p:cNvSpPr>
          <p:nvPr>
            <p:ph type="title"/>
          </p:nvPr>
        </p:nvSpPr>
        <p:spPr>
          <a:xfrm>
            <a:off x="802035" y="396240"/>
            <a:ext cx="10353761" cy="1326321"/>
          </a:xfrm>
        </p:spPr>
        <p:txBody>
          <a:bodyPr/>
          <a:lstStyle/>
          <a:p>
            <a:r>
              <a:rPr lang="en-IN" dirty="0"/>
              <a:t>Implementation details </a:t>
            </a:r>
          </a:p>
        </p:txBody>
      </p:sp>
      <p:sp>
        <p:nvSpPr>
          <p:cNvPr id="3" name="Content Placeholder 2">
            <a:extLst>
              <a:ext uri="{FF2B5EF4-FFF2-40B4-BE49-F238E27FC236}">
                <a16:creationId xmlns:a16="http://schemas.microsoft.com/office/drawing/2014/main" id="{28C3DBB6-5571-5F2F-7FBE-B59AEDE2C0E0}"/>
              </a:ext>
            </a:extLst>
          </p:cNvPr>
          <p:cNvSpPr>
            <a:spLocks noGrp="1"/>
          </p:cNvSpPr>
          <p:nvPr>
            <p:ph idx="1"/>
          </p:nvPr>
        </p:nvSpPr>
        <p:spPr>
          <a:xfrm>
            <a:off x="919119" y="1440304"/>
            <a:ext cx="10744561" cy="4777616"/>
          </a:xfrm>
        </p:spPr>
        <p:txBody>
          <a:bodyPr>
            <a:normAutofit fontScale="70000" lnSpcReduction="20000"/>
          </a:bodyPr>
          <a:lstStyle/>
          <a:p>
            <a:pPr>
              <a:buNone/>
            </a:pPr>
            <a:r>
              <a:rPr lang="en-US" b="1" dirty="0"/>
              <a:t>Dataset: LIAR Dataset</a:t>
            </a:r>
          </a:p>
          <a:p>
            <a:pPr>
              <a:buFont typeface="Arial" panose="020B0604020202020204" pitchFamily="34" charset="0"/>
              <a:buChar char="•"/>
            </a:pPr>
            <a:r>
              <a:rPr lang="en-US" dirty="0"/>
              <a:t>Source: Collected by PolitiFact.com, a fact-checking organization.</a:t>
            </a:r>
          </a:p>
          <a:p>
            <a:pPr>
              <a:buFont typeface="Arial" panose="020B0604020202020204" pitchFamily="34" charset="0"/>
              <a:buChar char="•"/>
            </a:pPr>
            <a:r>
              <a:rPr lang="en-US" dirty="0"/>
              <a:t>Content: 12.8K short political statements from 2007–2016.</a:t>
            </a:r>
          </a:p>
          <a:p>
            <a:pPr>
              <a:buFont typeface="Arial" panose="020B0604020202020204" pitchFamily="34" charset="0"/>
              <a:buChar char="•"/>
            </a:pPr>
            <a:r>
              <a:rPr lang="en-US" dirty="0"/>
              <a:t>Features include: statement, speaker, speaker’s job, party affiliation, etc.</a:t>
            </a:r>
          </a:p>
          <a:p>
            <a:pPr>
              <a:buFont typeface="Arial" panose="020B0604020202020204" pitchFamily="34" charset="0"/>
              <a:buChar char="•"/>
            </a:pPr>
            <a:r>
              <a:rPr lang="en-US" b="1" dirty="0"/>
              <a:t>Original labels (6 classes)</a:t>
            </a:r>
            <a:r>
              <a:rPr lang="en-US" dirty="0"/>
              <a:t>:</a:t>
            </a:r>
          </a:p>
          <a:p>
            <a:pPr marL="742950" lvl="1" indent="-285750">
              <a:buFont typeface="Arial" panose="020B0604020202020204" pitchFamily="34" charset="0"/>
              <a:buChar char="•"/>
            </a:pPr>
            <a:r>
              <a:rPr lang="en-US" i="1" dirty="0"/>
              <a:t>Pants-on-Fire</a:t>
            </a:r>
            <a:r>
              <a:rPr lang="en-US" dirty="0"/>
              <a:t>, </a:t>
            </a:r>
            <a:r>
              <a:rPr lang="en-US" i="1" dirty="0"/>
              <a:t>False</a:t>
            </a:r>
            <a:r>
              <a:rPr lang="en-US" dirty="0"/>
              <a:t>, </a:t>
            </a:r>
            <a:r>
              <a:rPr lang="en-US" i="1" dirty="0"/>
              <a:t>Barely-True</a:t>
            </a:r>
            <a:r>
              <a:rPr lang="en-US" dirty="0"/>
              <a:t>, </a:t>
            </a:r>
            <a:r>
              <a:rPr lang="en-US" i="1" dirty="0"/>
              <a:t>Half-True</a:t>
            </a:r>
            <a:r>
              <a:rPr lang="en-US" dirty="0"/>
              <a:t>, </a:t>
            </a:r>
            <a:r>
              <a:rPr lang="en-US" i="1" dirty="0"/>
              <a:t>Mostly-True</a:t>
            </a:r>
            <a:r>
              <a:rPr lang="en-US" dirty="0"/>
              <a:t>, </a:t>
            </a:r>
            <a:r>
              <a:rPr lang="en-US" i="1" dirty="0"/>
              <a:t>True</a:t>
            </a:r>
            <a:endParaRPr lang="en-US" dirty="0"/>
          </a:p>
          <a:p>
            <a:pPr>
              <a:buNone/>
            </a:pPr>
            <a:r>
              <a:rPr lang="en-US" b="1" dirty="0"/>
              <a:t>Labeling Strategy</a:t>
            </a:r>
          </a:p>
          <a:p>
            <a:pPr>
              <a:buFont typeface="Arial" panose="020B0604020202020204" pitchFamily="34" charset="0"/>
              <a:buChar char="•"/>
            </a:pPr>
            <a:r>
              <a:rPr lang="en-US" dirty="0"/>
              <a:t>Converted to </a:t>
            </a:r>
            <a:r>
              <a:rPr lang="en-US" b="1" dirty="0"/>
              <a:t>binary classification</a:t>
            </a:r>
            <a:r>
              <a:rPr lang="en-US" dirty="0"/>
              <a:t>:</a:t>
            </a:r>
          </a:p>
          <a:p>
            <a:pPr marL="742950" lvl="1" indent="-285750">
              <a:buFont typeface="Arial" panose="020B0604020202020204" pitchFamily="34" charset="0"/>
              <a:buChar char="•"/>
            </a:pPr>
            <a:r>
              <a:rPr lang="en-US" b="1" dirty="0"/>
              <a:t>Fake</a:t>
            </a:r>
            <a:r>
              <a:rPr lang="en-US" dirty="0"/>
              <a:t>: Pants-on-Fire, False, Barely-True</a:t>
            </a:r>
          </a:p>
          <a:p>
            <a:pPr marL="742950" lvl="1" indent="-285750">
              <a:buFont typeface="Arial" panose="020B0604020202020204" pitchFamily="34" charset="0"/>
              <a:buChar char="•"/>
            </a:pPr>
            <a:r>
              <a:rPr lang="en-US" b="1" dirty="0"/>
              <a:t>Real (True)</a:t>
            </a:r>
            <a:r>
              <a:rPr lang="en-US" dirty="0"/>
              <a:t>: Half-True, Mostly-True, True</a:t>
            </a:r>
          </a:p>
          <a:p>
            <a:pPr>
              <a:buNone/>
            </a:pPr>
            <a:r>
              <a:rPr lang="en-US" b="1" dirty="0"/>
              <a:t>Data Split</a:t>
            </a:r>
          </a:p>
          <a:p>
            <a:pPr>
              <a:buFont typeface="Arial" panose="020B0604020202020204" pitchFamily="34" charset="0"/>
              <a:buChar char="•"/>
            </a:pPr>
            <a:r>
              <a:rPr lang="en-US" b="1" dirty="0"/>
              <a:t>80%</a:t>
            </a:r>
            <a:r>
              <a:rPr lang="en-US" dirty="0"/>
              <a:t> Training</a:t>
            </a:r>
          </a:p>
          <a:p>
            <a:pPr>
              <a:buFont typeface="Arial" panose="020B0604020202020204" pitchFamily="34" charset="0"/>
              <a:buChar char="•"/>
            </a:pPr>
            <a:r>
              <a:rPr lang="en-US" b="1" dirty="0"/>
              <a:t>10%</a:t>
            </a:r>
            <a:r>
              <a:rPr lang="en-US" dirty="0"/>
              <a:t> Validation</a:t>
            </a:r>
          </a:p>
          <a:p>
            <a:pPr>
              <a:buFont typeface="Arial" panose="020B0604020202020204" pitchFamily="34" charset="0"/>
              <a:buChar char="•"/>
            </a:pPr>
            <a:r>
              <a:rPr lang="en-US" b="1" dirty="0"/>
              <a:t>10%</a:t>
            </a:r>
            <a:r>
              <a:rPr lang="en-US" dirty="0"/>
              <a:t> Testing</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457200" lvl="1" indent="0">
              <a:buNone/>
            </a:pPr>
            <a:endParaRPr lang="en-US" dirty="0"/>
          </a:p>
          <a:p>
            <a:endParaRPr lang="en-IN" dirty="0"/>
          </a:p>
        </p:txBody>
      </p:sp>
    </p:spTree>
    <p:extLst>
      <p:ext uri="{BB962C8B-B14F-4D97-AF65-F5344CB8AC3E}">
        <p14:creationId xmlns:p14="http://schemas.microsoft.com/office/powerpoint/2010/main" val="930336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955B1-1E72-9598-45DC-D53B6F4394B4}"/>
              </a:ext>
            </a:extLst>
          </p:cNvPr>
          <p:cNvSpPr>
            <a:spLocks noGrp="1"/>
          </p:cNvSpPr>
          <p:nvPr>
            <p:ph type="title"/>
          </p:nvPr>
        </p:nvSpPr>
        <p:spPr>
          <a:xfrm>
            <a:off x="913795" y="609601"/>
            <a:ext cx="10353761" cy="904240"/>
          </a:xfrm>
        </p:spPr>
        <p:txBody>
          <a:bodyPr>
            <a:normAutofit fontScale="90000"/>
          </a:bodyPr>
          <a:lstStyle/>
          <a:p>
            <a:r>
              <a:rPr lang="en-IN" b="1" dirty="0"/>
              <a:t>Model Configurations</a:t>
            </a:r>
            <a:br>
              <a:rPr lang="en-IN" b="1" dirty="0"/>
            </a:br>
            <a:endParaRPr lang="en-IN" dirty="0"/>
          </a:p>
        </p:txBody>
      </p:sp>
      <p:sp>
        <p:nvSpPr>
          <p:cNvPr id="3" name="Content Placeholder 2">
            <a:extLst>
              <a:ext uri="{FF2B5EF4-FFF2-40B4-BE49-F238E27FC236}">
                <a16:creationId xmlns:a16="http://schemas.microsoft.com/office/drawing/2014/main" id="{581FBD32-0BDB-D057-90F5-7863513F6186}"/>
              </a:ext>
            </a:extLst>
          </p:cNvPr>
          <p:cNvSpPr>
            <a:spLocks noGrp="1"/>
          </p:cNvSpPr>
          <p:nvPr>
            <p:ph idx="1"/>
          </p:nvPr>
        </p:nvSpPr>
        <p:spPr>
          <a:xfrm>
            <a:off x="1056035" y="1595121"/>
            <a:ext cx="10353762" cy="4277359"/>
          </a:xfrm>
        </p:spPr>
        <p:txBody>
          <a:bodyPr>
            <a:normAutofit fontScale="92500" lnSpcReduction="20000"/>
          </a:bodyPr>
          <a:lstStyle/>
          <a:p>
            <a:pPr>
              <a:buNone/>
            </a:pPr>
            <a:r>
              <a:rPr lang="en-IN" b="1" dirty="0"/>
              <a:t>1. BERT with Native Tokenizer</a:t>
            </a:r>
          </a:p>
          <a:p>
            <a:pPr>
              <a:buFont typeface="Arial" panose="020B0604020202020204" pitchFamily="34" charset="0"/>
              <a:buChar char="•"/>
            </a:pPr>
            <a:r>
              <a:rPr lang="en-IN" dirty="0"/>
              <a:t>Uses </a:t>
            </a:r>
            <a:r>
              <a:rPr lang="en-IN" b="1" dirty="0"/>
              <a:t>BERT tokenizer (</a:t>
            </a:r>
            <a:r>
              <a:rPr lang="en-IN" b="1" dirty="0" err="1"/>
              <a:t>WordPiece</a:t>
            </a:r>
            <a:r>
              <a:rPr lang="en-IN" b="1" dirty="0"/>
              <a:t>)</a:t>
            </a:r>
            <a:r>
              <a:rPr lang="en-IN" dirty="0"/>
              <a:t>.</a:t>
            </a:r>
          </a:p>
          <a:p>
            <a:pPr>
              <a:buFont typeface="Arial" panose="020B0604020202020204" pitchFamily="34" charset="0"/>
              <a:buChar char="•"/>
            </a:pPr>
            <a:r>
              <a:rPr lang="en-IN" dirty="0"/>
              <a:t>Handles rare words via </a:t>
            </a:r>
            <a:r>
              <a:rPr lang="en-IN" dirty="0" err="1"/>
              <a:t>subword</a:t>
            </a:r>
            <a:r>
              <a:rPr lang="en-IN" dirty="0"/>
              <a:t> splitting.</a:t>
            </a:r>
          </a:p>
          <a:p>
            <a:pPr>
              <a:buFont typeface="Arial" panose="020B0604020202020204" pitchFamily="34" charset="0"/>
              <a:buChar char="•"/>
            </a:pPr>
            <a:r>
              <a:rPr lang="en-IN" dirty="0"/>
              <a:t>Trained for 2 epochs to avoid overfitting.</a:t>
            </a:r>
          </a:p>
          <a:p>
            <a:pPr>
              <a:buFont typeface="Arial" panose="020B0604020202020204" pitchFamily="34" charset="0"/>
              <a:buChar char="•"/>
            </a:pPr>
            <a:r>
              <a:rPr lang="en-IN" dirty="0"/>
              <a:t>Achieved </a:t>
            </a:r>
            <a:r>
              <a:rPr lang="en-IN" b="1" dirty="0"/>
              <a:t>63% accuracy</a:t>
            </a:r>
            <a:r>
              <a:rPr lang="en-IN" dirty="0"/>
              <a:t>.</a:t>
            </a:r>
          </a:p>
          <a:p>
            <a:pPr>
              <a:buFont typeface="Arial" panose="020B0604020202020204" pitchFamily="34" charset="0"/>
              <a:buChar char="•"/>
            </a:pPr>
            <a:endParaRPr lang="en-IN" dirty="0"/>
          </a:p>
          <a:p>
            <a:pPr>
              <a:buNone/>
            </a:pPr>
            <a:r>
              <a:rPr lang="en-IN" b="1" dirty="0"/>
              <a:t> 2. BERT with GPT-2 Tokenizer</a:t>
            </a:r>
          </a:p>
          <a:p>
            <a:pPr>
              <a:buFont typeface="Arial" panose="020B0604020202020204" pitchFamily="34" charset="0"/>
              <a:buChar char="•"/>
            </a:pPr>
            <a:r>
              <a:rPr lang="en-IN" dirty="0"/>
              <a:t>Tokenized using GPT-2 Byte-Pair Encoding (BPE).</a:t>
            </a:r>
          </a:p>
          <a:p>
            <a:pPr>
              <a:buFont typeface="Arial" panose="020B0604020202020204" pitchFamily="34" charset="0"/>
              <a:buChar char="•"/>
            </a:pPr>
            <a:r>
              <a:rPr lang="en-IN" dirty="0"/>
              <a:t>Slight mismatch with BERT’s pretraining tokenizer.</a:t>
            </a:r>
          </a:p>
          <a:p>
            <a:pPr>
              <a:buFont typeface="Arial" panose="020B0604020202020204" pitchFamily="34" charset="0"/>
              <a:buChar char="•"/>
            </a:pPr>
            <a:r>
              <a:rPr lang="en-IN" dirty="0"/>
              <a:t>Accuracy  dropped to </a:t>
            </a:r>
            <a:r>
              <a:rPr lang="en-IN" b="1" dirty="0"/>
              <a:t>60%</a:t>
            </a:r>
            <a:r>
              <a:rPr lang="en-IN" dirty="0"/>
              <a:t>.</a:t>
            </a:r>
          </a:p>
          <a:p>
            <a:endParaRPr lang="en-IN" dirty="0"/>
          </a:p>
        </p:txBody>
      </p:sp>
    </p:spTree>
    <p:extLst>
      <p:ext uri="{BB962C8B-B14F-4D97-AF65-F5344CB8AC3E}">
        <p14:creationId xmlns:p14="http://schemas.microsoft.com/office/powerpoint/2010/main" val="1573528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5B6D1-0E66-5377-622F-E1D1C52B6331}"/>
              </a:ext>
            </a:extLst>
          </p:cNvPr>
          <p:cNvSpPr>
            <a:spLocks noGrp="1"/>
          </p:cNvSpPr>
          <p:nvPr>
            <p:ph type="title"/>
          </p:nvPr>
        </p:nvSpPr>
        <p:spPr>
          <a:xfrm>
            <a:off x="913796" y="278191"/>
            <a:ext cx="10353761" cy="1326321"/>
          </a:xfrm>
        </p:spPr>
        <p:txBody>
          <a:bodyPr/>
          <a:lstStyle/>
          <a:p>
            <a:r>
              <a:rPr lang="en-IN" b="1" dirty="0"/>
              <a:t>Model Configurations</a:t>
            </a:r>
            <a:endParaRPr lang="en-IN" dirty="0"/>
          </a:p>
        </p:txBody>
      </p:sp>
      <p:sp>
        <p:nvSpPr>
          <p:cNvPr id="3" name="Content Placeholder 2">
            <a:extLst>
              <a:ext uri="{FF2B5EF4-FFF2-40B4-BE49-F238E27FC236}">
                <a16:creationId xmlns:a16="http://schemas.microsoft.com/office/drawing/2014/main" id="{45903D9E-6227-EDC5-A229-1AB32744972A}"/>
              </a:ext>
            </a:extLst>
          </p:cNvPr>
          <p:cNvSpPr>
            <a:spLocks noGrp="1"/>
          </p:cNvSpPr>
          <p:nvPr>
            <p:ph idx="1"/>
          </p:nvPr>
        </p:nvSpPr>
        <p:spPr>
          <a:xfrm>
            <a:off x="913795" y="1855752"/>
            <a:ext cx="10353762" cy="3695136"/>
          </a:xfrm>
        </p:spPr>
        <p:txBody>
          <a:bodyPr/>
          <a:lstStyle/>
          <a:p>
            <a:pPr>
              <a:buNone/>
            </a:pPr>
            <a:r>
              <a:rPr lang="en-IN" b="1" dirty="0"/>
              <a:t>3. </a:t>
            </a:r>
            <a:r>
              <a:rPr lang="en-IN" b="1" dirty="0" err="1"/>
              <a:t>RoBERTa</a:t>
            </a:r>
            <a:r>
              <a:rPr lang="en-IN" b="1" dirty="0"/>
              <a:t> with Native Tokenizer</a:t>
            </a:r>
          </a:p>
          <a:p>
            <a:pPr>
              <a:buFont typeface="Arial" panose="020B0604020202020204" pitchFamily="34" charset="0"/>
              <a:buChar char="•"/>
            </a:pPr>
            <a:r>
              <a:rPr lang="en-IN" dirty="0"/>
              <a:t>Uses </a:t>
            </a:r>
            <a:r>
              <a:rPr lang="en-IN" b="1" dirty="0" err="1"/>
              <a:t>RoBERTa</a:t>
            </a:r>
            <a:r>
              <a:rPr lang="en-IN" b="1" dirty="0"/>
              <a:t> tokenizer</a:t>
            </a:r>
            <a:r>
              <a:rPr lang="en-IN" dirty="0"/>
              <a:t> (an optimized </a:t>
            </a:r>
            <a:r>
              <a:rPr lang="en-IN" dirty="0" err="1"/>
              <a:t>WordPiece</a:t>
            </a:r>
            <a:r>
              <a:rPr lang="en-IN" dirty="0"/>
              <a:t> variant).</a:t>
            </a:r>
          </a:p>
          <a:p>
            <a:pPr>
              <a:buFont typeface="Arial" panose="020B0604020202020204" pitchFamily="34" charset="0"/>
              <a:buChar char="•"/>
            </a:pPr>
            <a:r>
              <a:rPr lang="en-IN" dirty="0"/>
              <a:t>Trained longer and on more data.</a:t>
            </a:r>
          </a:p>
          <a:p>
            <a:pPr>
              <a:buFont typeface="Arial" panose="020B0604020202020204" pitchFamily="34" charset="0"/>
              <a:buChar char="•"/>
            </a:pPr>
            <a:r>
              <a:rPr lang="en-IN" dirty="0"/>
              <a:t>Best performance with </a:t>
            </a:r>
            <a:r>
              <a:rPr lang="en-IN" b="1" dirty="0"/>
              <a:t>64% accuracy</a:t>
            </a:r>
            <a:r>
              <a:rPr lang="en-IN" dirty="0"/>
              <a:t>.</a:t>
            </a:r>
          </a:p>
          <a:p>
            <a:pPr>
              <a:buNone/>
            </a:pPr>
            <a:r>
              <a:rPr lang="en-IN" b="1" dirty="0"/>
              <a:t>4. </a:t>
            </a:r>
            <a:r>
              <a:rPr lang="en-IN" b="1" dirty="0" err="1"/>
              <a:t>RoBERTa</a:t>
            </a:r>
            <a:r>
              <a:rPr lang="en-IN" b="1" dirty="0"/>
              <a:t> with GPT-2 Tokenizer</a:t>
            </a:r>
          </a:p>
          <a:p>
            <a:pPr>
              <a:buFont typeface="Arial" panose="020B0604020202020204" pitchFamily="34" charset="0"/>
              <a:buChar char="•"/>
            </a:pPr>
            <a:r>
              <a:rPr lang="en-IN" dirty="0"/>
              <a:t>GPT-2 tokenizer used instead of native.</a:t>
            </a:r>
          </a:p>
          <a:p>
            <a:pPr>
              <a:buFont typeface="Arial" panose="020B0604020202020204" pitchFamily="34" charset="0"/>
              <a:buChar char="•"/>
            </a:pPr>
            <a:r>
              <a:rPr lang="en-IN" dirty="0"/>
              <a:t>Slight performance decline, achieving </a:t>
            </a:r>
            <a:r>
              <a:rPr lang="en-IN" b="1" dirty="0"/>
              <a:t>63% accuracy</a:t>
            </a:r>
            <a:r>
              <a:rPr lang="en-IN" dirty="0"/>
              <a:t>.</a:t>
            </a:r>
          </a:p>
          <a:p>
            <a:endParaRPr lang="en-IN" dirty="0"/>
          </a:p>
        </p:txBody>
      </p:sp>
    </p:spTree>
    <p:extLst>
      <p:ext uri="{BB962C8B-B14F-4D97-AF65-F5344CB8AC3E}">
        <p14:creationId xmlns:p14="http://schemas.microsoft.com/office/powerpoint/2010/main" val="898480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B1CE1-7CD2-9EEB-E0BA-CD90C8A84AC4}"/>
              </a:ext>
            </a:extLst>
          </p:cNvPr>
          <p:cNvSpPr>
            <a:spLocks noGrp="1"/>
          </p:cNvSpPr>
          <p:nvPr>
            <p:ph type="title"/>
          </p:nvPr>
        </p:nvSpPr>
        <p:spPr>
          <a:xfrm>
            <a:off x="741646" y="447040"/>
            <a:ext cx="10353761" cy="1326321"/>
          </a:xfrm>
        </p:spPr>
        <p:txBody>
          <a:bodyPr/>
          <a:lstStyle/>
          <a:p>
            <a:r>
              <a:rPr lang="en-IN" dirty="0"/>
              <a:t>Result analysis (BERT model)</a:t>
            </a:r>
          </a:p>
        </p:txBody>
      </p:sp>
      <p:pic>
        <p:nvPicPr>
          <p:cNvPr id="13" name="Picture 12">
            <a:extLst>
              <a:ext uri="{FF2B5EF4-FFF2-40B4-BE49-F238E27FC236}">
                <a16:creationId xmlns:a16="http://schemas.microsoft.com/office/drawing/2014/main" id="{704D75EB-927B-CD90-0224-905BDA80D98B}"/>
              </a:ext>
            </a:extLst>
          </p:cNvPr>
          <p:cNvPicPr>
            <a:picLocks noChangeAspect="1"/>
          </p:cNvPicPr>
          <p:nvPr/>
        </p:nvPicPr>
        <p:blipFill>
          <a:blip r:embed="rId2"/>
          <a:stretch>
            <a:fillRect/>
          </a:stretch>
        </p:blipFill>
        <p:spPr>
          <a:xfrm>
            <a:off x="6410926" y="2227394"/>
            <a:ext cx="5039428" cy="2667372"/>
          </a:xfrm>
          <a:prstGeom prst="rect">
            <a:avLst/>
          </a:prstGeom>
        </p:spPr>
      </p:pic>
      <p:pic>
        <p:nvPicPr>
          <p:cNvPr id="17" name="Content Placeholder 16">
            <a:extLst>
              <a:ext uri="{FF2B5EF4-FFF2-40B4-BE49-F238E27FC236}">
                <a16:creationId xmlns:a16="http://schemas.microsoft.com/office/drawing/2014/main" id="{FC816313-D41A-D4D7-E513-1C8AB3AE8575}"/>
              </a:ext>
            </a:extLst>
          </p:cNvPr>
          <p:cNvPicPr>
            <a:picLocks noGrp="1" noChangeAspect="1"/>
          </p:cNvPicPr>
          <p:nvPr>
            <p:ph idx="1"/>
          </p:nvPr>
        </p:nvPicPr>
        <p:blipFill>
          <a:blip r:embed="rId3"/>
          <a:stretch>
            <a:fillRect/>
          </a:stretch>
        </p:blipFill>
        <p:spPr>
          <a:xfrm>
            <a:off x="741646" y="2227394"/>
            <a:ext cx="5363323" cy="2667372"/>
          </a:xfrm>
        </p:spPr>
      </p:pic>
    </p:spTree>
    <p:extLst>
      <p:ext uri="{BB962C8B-B14F-4D97-AF65-F5344CB8AC3E}">
        <p14:creationId xmlns:p14="http://schemas.microsoft.com/office/powerpoint/2010/main" val="1316176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509C7-FD53-89CA-03C9-E1CE39929998}"/>
              </a:ext>
            </a:extLst>
          </p:cNvPr>
          <p:cNvSpPr>
            <a:spLocks noGrp="1"/>
          </p:cNvSpPr>
          <p:nvPr>
            <p:ph type="title"/>
          </p:nvPr>
        </p:nvSpPr>
        <p:spPr/>
        <p:txBody>
          <a:bodyPr/>
          <a:lstStyle/>
          <a:p>
            <a:r>
              <a:rPr lang="en-IN" dirty="0"/>
              <a:t>Result analysis</a:t>
            </a:r>
          </a:p>
        </p:txBody>
      </p:sp>
      <p:pic>
        <p:nvPicPr>
          <p:cNvPr id="5" name="Content Placeholder 4">
            <a:extLst>
              <a:ext uri="{FF2B5EF4-FFF2-40B4-BE49-F238E27FC236}">
                <a16:creationId xmlns:a16="http://schemas.microsoft.com/office/drawing/2014/main" id="{A6A33024-4904-D369-AEFC-C79967AF2D2A}"/>
              </a:ext>
            </a:extLst>
          </p:cNvPr>
          <p:cNvPicPr>
            <a:picLocks noGrp="1" noChangeAspect="1"/>
          </p:cNvPicPr>
          <p:nvPr>
            <p:ph idx="1"/>
          </p:nvPr>
        </p:nvPicPr>
        <p:blipFill>
          <a:blip r:embed="rId2"/>
          <a:stretch>
            <a:fillRect/>
          </a:stretch>
        </p:blipFill>
        <p:spPr>
          <a:xfrm>
            <a:off x="913795" y="2508697"/>
            <a:ext cx="5380676" cy="2868338"/>
          </a:xfrm>
        </p:spPr>
      </p:pic>
      <p:pic>
        <p:nvPicPr>
          <p:cNvPr id="7" name="Picture 6">
            <a:extLst>
              <a:ext uri="{FF2B5EF4-FFF2-40B4-BE49-F238E27FC236}">
                <a16:creationId xmlns:a16="http://schemas.microsoft.com/office/drawing/2014/main" id="{1E9FA350-71ED-03FE-C03E-F14BEEF7D9FA}"/>
              </a:ext>
            </a:extLst>
          </p:cNvPr>
          <p:cNvPicPr>
            <a:picLocks noChangeAspect="1"/>
          </p:cNvPicPr>
          <p:nvPr/>
        </p:nvPicPr>
        <p:blipFill>
          <a:blip r:embed="rId3"/>
          <a:stretch>
            <a:fillRect/>
          </a:stretch>
        </p:blipFill>
        <p:spPr>
          <a:xfrm>
            <a:off x="6596340" y="2546802"/>
            <a:ext cx="5402765" cy="2756718"/>
          </a:xfrm>
          <a:prstGeom prst="rect">
            <a:avLst/>
          </a:prstGeom>
        </p:spPr>
      </p:pic>
    </p:spTree>
    <p:extLst>
      <p:ext uri="{BB962C8B-B14F-4D97-AF65-F5344CB8AC3E}">
        <p14:creationId xmlns:p14="http://schemas.microsoft.com/office/powerpoint/2010/main" val="32660866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55838-21FE-005E-1E92-129E4DBEECE7}"/>
              </a:ext>
            </a:extLst>
          </p:cNvPr>
          <p:cNvSpPr>
            <a:spLocks noGrp="1"/>
          </p:cNvSpPr>
          <p:nvPr>
            <p:ph type="title"/>
          </p:nvPr>
        </p:nvSpPr>
        <p:spPr/>
        <p:txBody>
          <a:bodyPr/>
          <a:lstStyle/>
          <a:p>
            <a:r>
              <a:rPr lang="en-IN" dirty="0"/>
              <a:t>Future scope</a:t>
            </a:r>
          </a:p>
        </p:txBody>
      </p:sp>
      <p:sp>
        <p:nvSpPr>
          <p:cNvPr id="3" name="Content Placeholder 2">
            <a:extLst>
              <a:ext uri="{FF2B5EF4-FFF2-40B4-BE49-F238E27FC236}">
                <a16:creationId xmlns:a16="http://schemas.microsoft.com/office/drawing/2014/main" id="{218636D4-8A03-7EE8-12CC-2806D0E0E7F8}"/>
              </a:ext>
            </a:extLst>
          </p:cNvPr>
          <p:cNvSpPr>
            <a:spLocks noGrp="1"/>
          </p:cNvSpPr>
          <p:nvPr>
            <p:ph idx="1"/>
          </p:nvPr>
        </p:nvSpPr>
        <p:spPr/>
        <p:txBody>
          <a:bodyPr/>
          <a:lstStyle/>
          <a:p>
            <a:pPr>
              <a:buNone/>
            </a:pPr>
            <a:r>
              <a:rPr lang="en-US" b="1" dirty="0"/>
              <a:t>Future Scope</a:t>
            </a:r>
          </a:p>
          <a:p>
            <a:pPr>
              <a:buFont typeface="Arial" panose="020B0604020202020204" pitchFamily="34" charset="0"/>
              <a:buChar char="•"/>
            </a:pPr>
            <a:r>
              <a:rPr lang="en-US" dirty="0"/>
              <a:t>Expand the model to </a:t>
            </a:r>
            <a:r>
              <a:rPr lang="en-US" b="1" dirty="0"/>
              <a:t>larger and more diverse datasets</a:t>
            </a:r>
            <a:r>
              <a:rPr lang="en-US" dirty="0"/>
              <a:t> to enhance generalizability.</a:t>
            </a:r>
          </a:p>
          <a:p>
            <a:pPr>
              <a:buFont typeface="Arial" panose="020B0604020202020204" pitchFamily="34" charset="0"/>
              <a:buChar char="•"/>
            </a:pPr>
            <a:r>
              <a:rPr lang="en-US" dirty="0"/>
              <a:t>Experiment with </a:t>
            </a:r>
            <a:r>
              <a:rPr lang="en-US" b="1" dirty="0"/>
              <a:t>more advanced models</a:t>
            </a:r>
            <a:r>
              <a:rPr lang="en-US" dirty="0"/>
              <a:t> or </a:t>
            </a:r>
            <a:r>
              <a:rPr lang="en-US" b="1" dirty="0"/>
              <a:t>hybrid architectures</a:t>
            </a:r>
            <a:r>
              <a:rPr lang="en-US" dirty="0"/>
              <a:t> combining multiple transformers.</a:t>
            </a:r>
          </a:p>
          <a:p>
            <a:pPr marL="0" indent="0">
              <a:buNone/>
            </a:pPr>
            <a:endParaRPr lang="en-IN" dirty="0"/>
          </a:p>
        </p:txBody>
      </p:sp>
    </p:spTree>
    <p:extLst>
      <p:ext uri="{BB962C8B-B14F-4D97-AF65-F5344CB8AC3E}">
        <p14:creationId xmlns:p14="http://schemas.microsoft.com/office/powerpoint/2010/main" val="2144291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0F3FE-0201-5F5C-B85C-924AE1EE525C}"/>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4865C5E3-7BCE-8F94-E153-83BA1E626277}"/>
              </a:ext>
            </a:extLst>
          </p:cNvPr>
          <p:cNvSpPr>
            <a:spLocks noGrp="1"/>
          </p:cNvSpPr>
          <p:nvPr>
            <p:ph idx="1"/>
          </p:nvPr>
        </p:nvSpPr>
        <p:spPr/>
        <p:txBody>
          <a:bodyPr/>
          <a:lstStyle/>
          <a:p>
            <a:r>
              <a:rPr lang="en-US" dirty="0"/>
              <a:t>The study confirms that BERT and </a:t>
            </a:r>
            <a:r>
              <a:rPr lang="en-US" dirty="0" err="1"/>
              <a:t>RoBERTa</a:t>
            </a:r>
            <a:r>
              <a:rPr lang="en-US" dirty="0"/>
              <a:t> outperform other traditional and deep learning approaches, with </a:t>
            </a:r>
            <a:r>
              <a:rPr lang="en-US" b="1" dirty="0" err="1"/>
              <a:t>RoBERTa</a:t>
            </a:r>
            <a:r>
              <a:rPr lang="en-US" b="1" dirty="0"/>
              <a:t> achieving the highest accuracy (64%)</a:t>
            </a:r>
            <a:r>
              <a:rPr lang="en-US" dirty="0"/>
              <a:t>. Proper preprocessing and use of native tokenizers significantly enhance performance. The results validate transformer models as effective tools for fake news detection.</a:t>
            </a:r>
          </a:p>
          <a:p>
            <a:endParaRPr lang="en-IN" dirty="0"/>
          </a:p>
        </p:txBody>
      </p:sp>
    </p:spTree>
    <p:extLst>
      <p:ext uri="{BB962C8B-B14F-4D97-AF65-F5344CB8AC3E}">
        <p14:creationId xmlns:p14="http://schemas.microsoft.com/office/powerpoint/2010/main" val="4281153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57FA7-D9CE-D6EA-3669-9B654FCF5442}"/>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FE03E362-B47E-338F-26CB-8A25234BD4C6}"/>
              </a:ext>
            </a:extLst>
          </p:cNvPr>
          <p:cNvSpPr>
            <a:spLocks noGrp="1"/>
          </p:cNvSpPr>
          <p:nvPr>
            <p:ph idx="1"/>
          </p:nvPr>
        </p:nvSpPr>
        <p:spPr/>
        <p:txBody>
          <a:bodyPr/>
          <a:lstStyle/>
          <a:p>
            <a:r>
              <a:rPr lang="en-IN" dirty="0">
                <a:hlinkClick r:id="rId2"/>
              </a:rPr>
              <a:t>https://github.com/Tariq60/LIAR-PLUS/tree/master/dataset/tsv</a:t>
            </a:r>
            <a:endParaRPr lang="en-IN" dirty="0"/>
          </a:p>
          <a:p>
            <a:r>
              <a:rPr lang="en-US" dirty="0" err="1"/>
              <a:t>Angizeh</a:t>
            </a:r>
            <a:r>
              <a:rPr lang="en-US" dirty="0"/>
              <a:t>, L. B., &amp; </a:t>
            </a:r>
            <a:r>
              <a:rPr lang="en-US" dirty="0" err="1"/>
              <a:t>Keyvanpour</a:t>
            </a:r>
            <a:r>
              <a:rPr lang="en-US" dirty="0"/>
              <a:t>, M. R. (2024). Detecting fake news using advanced language models: BERT and </a:t>
            </a:r>
            <a:r>
              <a:rPr lang="en-US" dirty="0" err="1"/>
              <a:t>RoBERTa</a:t>
            </a:r>
            <a:r>
              <a:rPr lang="en-US" dirty="0"/>
              <a:t>. *Proceedings of the 2024 International Conference on Web Research (ICWR)*, 46–52. </a:t>
            </a:r>
            <a:r>
              <a:rPr lang="en-US" dirty="0">
                <a:hlinkClick r:id="rId3"/>
              </a:rPr>
              <a:t>https://doi.org/10.1109/ICWR61162.2024.10533352</a:t>
            </a:r>
            <a:endParaRPr lang="en-US" dirty="0"/>
          </a:p>
          <a:p>
            <a:r>
              <a:rPr lang="en-US" dirty="0">
                <a:hlinkClick r:id="rId4"/>
              </a:rPr>
              <a:t>https://www.researchgate.net/publication/372906672/figure/fig2/AS:11431281179224913@1691164535766/BERT-model-architecture.ppm</a:t>
            </a:r>
            <a:endParaRPr lang="en-US" dirty="0"/>
          </a:p>
          <a:p>
            <a:endParaRPr lang="en-US" dirty="0"/>
          </a:p>
          <a:p>
            <a:endParaRPr lang="en-US" dirty="0"/>
          </a:p>
          <a:p>
            <a:endParaRPr lang="en-IN" dirty="0"/>
          </a:p>
        </p:txBody>
      </p:sp>
    </p:spTree>
    <p:extLst>
      <p:ext uri="{BB962C8B-B14F-4D97-AF65-F5344CB8AC3E}">
        <p14:creationId xmlns:p14="http://schemas.microsoft.com/office/powerpoint/2010/main" val="35939811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27257-EBF2-1943-5756-E4C9B6A4760F}"/>
              </a:ext>
            </a:extLst>
          </p:cNvPr>
          <p:cNvSpPr>
            <a:spLocks noGrp="1"/>
          </p:cNvSpPr>
          <p:nvPr>
            <p:ph type="title"/>
          </p:nvPr>
        </p:nvSpPr>
        <p:spPr>
          <a:xfrm>
            <a:off x="720755" y="2540000"/>
            <a:ext cx="10353761" cy="1326321"/>
          </a:xfrm>
        </p:spPr>
        <p:txBody>
          <a:bodyPr/>
          <a:lstStyle/>
          <a:p>
            <a:r>
              <a:rPr lang="en-IN" dirty="0"/>
              <a:t>Thank you!</a:t>
            </a:r>
          </a:p>
        </p:txBody>
      </p:sp>
      <p:sp>
        <p:nvSpPr>
          <p:cNvPr id="3" name="Content Placeholder 2">
            <a:extLst>
              <a:ext uri="{FF2B5EF4-FFF2-40B4-BE49-F238E27FC236}">
                <a16:creationId xmlns:a16="http://schemas.microsoft.com/office/drawing/2014/main" id="{CEDA71AC-A8A5-6E37-95AE-3AF98EFC597A}"/>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16685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535</TotalTime>
  <Words>998</Words>
  <Application>Microsoft Office PowerPoint</Application>
  <PresentationFormat>Widescreen</PresentationFormat>
  <Paragraphs>129</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Bookman Old Style</vt:lpstr>
      <vt:lpstr>Rockwell</vt:lpstr>
      <vt:lpstr>Damask</vt:lpstr>
      <vt:lpstr>Detecting Fake News using Advanced Language Models:  BERT and RoBERTa</vt:lpstr>
      <vt:lpstr>Contents </vt:lpstr>
      <vt:lpstr>Introduction</vt:lpstr>
      <vt:lpstr>Related work</vt:lpstr>
      <vt:lpstr>Proposed work</vt:lpstr>
      <vt:lpstr>BERT Architecture – Overview &amp; Working </vt:lpstr>
      <vt:lpstr>Bert-base model</vt:lpstr>
      <vt:lpstr>BERT MODEL WORKING</vt:lpstr>
      <vt:lpstr>roBERTa Architecture – Overview &amp; Working </vt:lpstr>
      <vt:lpstr>roBERTa Model working</vt:lpstr>
      <vt:lpstr>BERT vs. RoBERTa – Key Differences</vt:lpstr>
      <vt:lpstr>Implementation details </vt:lpstr>
      <vt:lpstr>Model Configurations </vt:lpstr>
      <vt:lpstr>Model Configurations</vt:lpstr>
      <vt:lpstr>Result analysis (BERT model)</vt:lpstr>
      <vt:lpstr>Result analysis</vt:lpstr>
      <vt:lpstr>Future scope</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Rutuja Gangane</dc:creator>
  <cp:lastModifiedBy>Rutuja Gangane</cp:lastModifiedBy>
  <cp:revision>4</cp:revision>
  <dcterms:created xsi:type="dcterms:W3CDTF">2025-05-01T21:03:00Z</dcterms:created>
  <dcterms:modified xsi:type="dcterms:W3CDTF">2025-05-02T09:20:54Z</dcterms:modified>
</cp:coreProperties>
</file>